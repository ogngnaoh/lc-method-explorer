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5dd6692d1043a1" /><Relationship Type="http://schemas.openxmlformats.org/officeDocument/2006/relationships/extended-properties" Target="/docProps/app.xml" Id="Ra4e9401c04da4fd9" /><Relationship Type="http://schemas.openxmlformats.org/officeDocument/2006/relationships/officeDocument" Target="/ppt/presentation.xml" Id="Rb9b06e2f301a48e6" /></Relationships>
</file>

<file path=ppt/presentation.xml><?xml version="1.0" encoding="utf-8"?>
<p:presentation xmlns:p="http://schemas.openxmlformats.org/presentationml/2006/main">
  <p:sldMasterIdLst>
    <p:sldMasterId xmlns:r="http://schemas.openxmlformats.org/officeDocument/2006/relationships" id="2147483648" r:id="R05e7c7000d34471f"/>
  </p:sldMasterIdLst>
  <p:notesMasterIdLst>
    <p:notesMasterId xmlns:r="http://schemas.openxmlformats.org/officeDocument/2006/relationships" r:id="R8d7421dd9f1649cd"/>
  </p:notesMasterIdLst>
  <p:sldIdLst>
    <p:sldId xmlns:r="http://schemas.openxmlformats.org/officeDocument/2006/relationships" id="256" r:id="Rb25378c543524962"/>
    <p:sldId xmlns:r="http://schemas.openxmlformats.org/officeDocument/2006/relationships" id="257" r:id="R1d22da32fd274550"/>
    <p:sldId xmlns:r="http://schemas.openxmlformats.org/officeDocument/2006/relationships" id="258" r:id="Rf7d1fad40873406c"/>
    <p:sldId xmlns:r="http://schemas.openxmlformats.org/officeDocument/2006/relationships" id="259" r:id="Rd365a385a4554fd2"/>
    <p:sldId xmlns:r="http://schemas.openxmlformats.org/officeDocument/2006/relationships" id="260" r:id="Re1d80e6fa3e54b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920ffe1f9c4534" /><Relationship Type="http://schemas.openxmlformats.org/officeDocument/2006/relationships/slideMaster" Target="/ppt/slideMasters/slideMaster1.xml" Id="R05e7c7000d34471f" /><Relationship Type="http://schemas.openxmlformats.org/officeDocument/2006/relationships/notesMaster" Target="/ppt/notesMasters/notesMaster1.xml" Id="R8d7421dd9f1649cd" /><Relationship Type="http://schemas.openxmlformats.org/officeDocument/2006/relationships/presProps" Target="/ppt/presProps.xml" Id="R65654ce3d7c642a0" /><Relationship Type="http://schemas.openxmlformats.org/officeDocument/2006/relationships/tableStyles" Target="/ppt/tableStyles.xml" Id="Re2a2470fed474389" /><Relationship Type="http://schemas.openxmlformats.org/officeDocument/2006/relationships/slide" Target="/ppt/slides/slide1.xml" Id="Rb25378c543524962" /><Relationship Type="http://schemas.openxmlformats.org/officeDocument/2006/relationships/slide" Target="/ppt/slides/slide2.xml" Id="R1d22da32fd274550" /><Relationship Type="http://schemas.openxmlformats.org/officeDocument/2006/relationships/slide" Target="/ppt/slides/slide3.xml" Id="Rf7d1fad40873406c" /><Relationship Type="http://schemas.openxmlformats.org/officeDocument/2006/relationships/slide" Target="/ppt/slides/slide4.xml" Id="Rd365a385a4554fd2" /><Relationship Type="http://schemas.openxmlformats.org/officeDocument/2006/relationships/slide" Target="/ppt/slides/slide5.xml" Id="Re1d80e6fa3e54b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c15285fc024f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2f3e1bc08042f9" /><Relationship Type="http://schemas.openxmlformats.org/officeDocument/2006/relationships/notesMaster" Target="/ppt/notesMasters/notesMaster1.xml" Id="Ra9cb8462240942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dcf76f08124c72" /><Relationship Type="http://schemas.openxmlformats.org/officeDocument/2006/relationships/notesMaster" Target="/ppt/notesMasters/notesMaster1.xml" Id="R344c3a81d8494d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acaf27745e42b8" /><Relationship Type="http://schemas.openxmlformats.org/officeDocument/2006/relationships/notesMaster" Target="/ppt/notesMasters/notesMaster1.xml" Id="R594504f2db5c4d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ce912651f94b8b" /><Relationship Type="http://schemas.openxmlformats.org/officeDocument/2006/relationships/notesMaster" Target="/ppt/notesMasters/notesMaster1.xml" Id="R015ca934a7434f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575a4e8d0a4dd9" /><Relationship Type="http://schemas.openxmlformats.org/officeDocument/2006/relationships/notesMaster" Target="/ppt/notesMasters/notesMaster1.xml" Id="R75d98600b2114c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20 seconds.</a:t>
            </a:r>
          </a:p>
          <a:p xmlns:a="http://schemas.openxmlformats.org/drawingml/2006/main">
            <a:r>
              <a:t>This project asks whether molecular structure and recorded LC conditions can predict retention time for a compound absent from training, then rank the 30 supported methods for a requested window. It uses public measurements. It does not claim that I collected these laboratory data or validated separation quality. This independent implementation was developed in September 2026 with coding-assistant support.</a:t>
            </a:r>
          </a:p>
          <a:p xmlns:a="http://schemas.openxmlformats.org/drawingml/2006/main">
            <a:r>
              <a:t>Optional demo: choose Pirimicarb, XGBoost, and 5–10 minutes. M18 predicts 7.42 minutes. Reveal the measured value of 6.82 minutes, then open the Evidence tab. This example illustrates interaction, not population performance.</a:t>
            </a:r>
          </a:p>
          <a:p xmlns:a="http://schemas.openxmlformats.org/drawingml/2006/main">
            <a:r>
              <a:t>Sources: demo/app.py; reports/figures/demo_recommendations.png; reports/MODEL_CARD.md. Screenshot captured from the actual local app on September 24, 2026. Dataset DOI: https://doi.org/10.57760/sciencedb.15823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25 seconds.</a:t>
            </a:r>
          </a:p>
          <a:p xmlns:a="http://schemas.openxmlformats.org/drawingml/2006/main">
            <a:r>
              <a:t>I checked all 30 source workbooks against publisher MD5 checksums and recorded SHA256 hashes. The 10,073 positive numeric observations span columns, solvents and gradients, satisfying the planned condition-coverage requirement within these 30 methods. This is not universal chromatography coverage or a controlled factorial design.</a:t>
            </a:r>
          </a:p>
          <a:p xmlns:a="http://schemas.openxmlformats.org/drawingml/2006/main">
            <a:r>
              <a:t>330 compounds appear in all 30 methods. Five appear in 25 methods and eight in six, leaving 217 missing pairs out of 10,290 possible. Missing RT is not zero and is not evidence of failed retention.</a:t>
            </a:r>
          </a:p>
          <a:p xmlns:a="http://schemas.openxmlformats.org/drawingml/2006/main">
            <a:r>
              <a:t>RDKit parses all 343 supplied structures. Conservative parent/tautomer grouping gives 341 groups. Ten secondary InChIKey differences remain documented. Source structures are preserved.</a:t>
            </a:r>
          </a:p>
          <a:p xmlns:a="http://schemas.openxmlformats.org/drawingml/2006/main">
            <a:r>
              <a:t>Sources: reports/DATA_AUDIT.md; reports/preparation.json; data/source/mcmrt_manifest.json. Dataset: https://doi.org/10.57760/sciencedb.15823. Publisher record: https://www.scidb.cn/en/detail?dataSetId=7b1a8766e1e947e1884707f6a1016e4f. The dataset record specifies CC0; the article license is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25 seconds.</a:t>
            </a:r>
          </a:p>
          <a:p xmlns:a="http://schemas.openxmlformats.org/drawingml/2006/main">
            <a:r>
              <a:t>A random row split would let the same compound occur in training and testing under different methods. I instead keep compound groups intact across methods. Grouping normalizes parent/charge, isotope, stereo and tautomer variants for splitting only. It does not imply identical chemistry or actual solution charge. Molecular descriptors retain the supplied structures.</a:t>
            </a:r>
          </a:p>
          <a:p xmlns:a="http://schemas.openxmlformats.org/drawingml/2006/main">
            <a:r>
              <a:t>Development contains 273 source compounds in 272 groups, with 8,026 observations. Five grouped folds compare the median baseline with three Random Forest and three XGBoost configurations. Feature encoding is fitted within each training fold. The 70-compound, 69-group holdout contains 2,047 observations. Saved model artifacts are fitted on development compounds only.</a:t>
            </a:r>
          </a:p>
          <a:p xmlns:a="http://schemas.openxmlformats.org/drawingml/2006/main">
            <a:r>
              <a:t>The feature schema has 21 molecular descriptors and 62 method fields before categorical encoding. Measured retention factor and RSD are excluded because a new unmeasured compound would not supply them. MAE is mean absolute error in minutes.</a:t>
            </a:r>
          </a:p>
          <a:p xmlns:a="http://schemas.openxmlformats.org/drawingml/2006/main">
            <a:r>
              <a:t>The holdout is now evaluated. Further experiments must not describe it as untouched or tune against it.</a:t>
            </a:r>
          </a:p>
          <a:p xmlns:a="http://schemas.openxmlformats.org/drawingml/2006/main">
            <a:r>
              <a:t>Sources: reports/EVALUATION_PROTOCOL.md; config/experiment.json; data/splits/compounds.csv; data/splits/protocol.json; data/processed/feature_schema.json; reports/BASELINE.md.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30 seconds.</a:t>
            </a:r>
          </a:p>
          <a:p xmlns:a="http://schemas.openxmlformats.org/drawingml/2006/main">
            <a:r>
              <a:t>Development MAE is 4.8531 minutes for the median baseline, 1.9437 for RF and 1.9034 for XGBoost. That selection preceded the final holdout. Holdout MAE is 4.8423, 1.8909 and 2.1599 minutes respectively. I kept the development-selected XGBoost default and reported the RF reversal instead of selecting using the test result.</a:t>
            </a:r>
          </a:p>
          <a:p xmlns:a="http://schemas.openxmlformats.org/drawingml/2006/main">
            <a:r>
              <a:t>For recommendations, the model ranks the known methods by predicted distance outside the requested window, then distance to its center, run duration and method ID. It never uses measured truth to rank. The prespecified windows are 2–5, 5–10, 10–20 and 20–40 minutes.</a:t>
            </a:r>
          </a:p>
          <a:p xmlns:a="http://schemas.openxmlformats.org/drawingml/2006/main">
            <a:r>
              <a:t>67 holdout compounds have complete panels, giving 268 compound/window cases. Three incomplete compounds stay in RT metrics but are excluded from ranking metrics. XGBoost has 172 top-1 hits, the fixed rule 169, RF 175 and median-prediction ranking 146. The fixed rule learns method order from development data and uses the same ordering for every new compound for a given window. The XGBoost advantage is modest and varies by window. No significance claim or measured lab-time saving follows.</a:t>
            </a:r>
          </a:p>
          <a:p xmlns:a="http://schemas.openxmlformats.org/drawingml/2006/main">
            <a:r>
              <a:t>At least one measured method meets the window in 199 of 268 cases. 172/199 = 86.4% is a conditional feasible-case rate, not overall success. Overall is 64.2%.</a:t>
            </a:r>
          </a:p>
          <a:p xmlns:a="http://schemas.openxmlformats.org/drawingml/2006/main">
            <a:r>
              <a:t>If asked about uncertainty: the paired compound-group bootstrap 95% interval for XGBoost MAE improvement over the median baseline is 1.94–3.49 minutes. It conditions on fixed models and is not an individual prediction interval.</a:t>
            </a:r>
          </a:p>
          <a:p xmlns:a="http://schemas.openxmlformats.org/drawingml/2006/main">
            <a:r>
              <a:t>Sources: reports/MODEL_RESULTS.md; reports/experiments/mcmrt-v3-compound-v1/selection.json; reports/experiments/mcmrt-v3-compound-v1/holdout/metrics.json. Native chart values come from those JSON records, rounded to two decimal places for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20 seconds.</a:t>
            </a:r>
          </a:p>
          <a:p xmlns:a="http://schemas.openxmlformats.org/drawingml/2006/main">
            <a:r>
              <a:t>The 14 negative XGBoost predictions occur among 2,047 holdout observations, ranging from about -1.52 to -0.008 minutes. They are physically invalid. The app preserves and flags them, and the scores include them. Clipping or filtering after seeing holdout outcomes would change the evaluated policy. Future experiments could prespecify a positive-target transformation, invalid-candidate policy and calibrated intervals.</a:t>
            </a:r>
          </a:p>
          <a:p xmlns:a="http://schemas.openxmlformats.org/drawingml/2006/main">
            <a:r>
              <a:t>The dataset supports known-method prediction for held-out compound groups within one source. It does not establish new-method, new-laboratory or scaffold extrapolation. A window hit alone does not establish mixture separation, peak shape or sensitivity. The illustrative timing windows are not scientist-approved requirements.</a:t>
            </a:r>
          </a:p>
          <a:p xmlns:a="http://schemas.openxmlformats.org/drawingml/2006/main">
            <a:r>
              <a:t>Local feasibility: development comparison took 49.4 seconds and final refitting/evaluation 5.9 seconds on an M2 Pro with 16 GB RAM, excluding imports/setup. The interface uses frozen local artifacts without retraining. These are measured timings for this experiment, not general hardware benchmarks.</a:t>
            </a:r>
          </a:p>
          <a:p xmlns:a="http://schemas.openxmlformats.org/drawingml/2006/main">
            <a:r>
              <a:t>Prioritize independent validation and a stronger decision objective before expanding the interface. An independent-machine end-to-end reproduction has not yet been performed.</a:t>
            </a:r>
          </a:p>
          <a:p xmlns:a="http://schemas.openxmlformats.org/drawingml/2006/main">
            <a:r>
              <a:t>Sources: reports/MODEL_RESULTS.md; reports/MODEL_CARD.md; reports/experiments/mcmrt-v3-compound-v1/holdout/metrics.json.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24f8f20a9d4c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b272fd8b874756" /><Relationship Type="http://schemas.openxmlformats.org/officeDocument/2006/relationships/slideLayout" Target="/ppt/slideLayouts/slideLayout1.xml" Id="R0e1ed353390048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1ed353390048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dfc5aaa35d413c" /><Relationship Type="http://schemas.openxmlformats.org/officeDocument/2006/relationships/image" Target="/ppt/media/image.jpeg" Id="R9ca6f87cf7c04f39" /><Relationship Type="http://schemas.openxmlformats.org/officeDocument/2006/relationships/notesSlide" Target="/ppt/notesSlides/notesSlide1.xml" Id="R23df8c0fa13f49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2eb39191814dce" /><Relationship Type="http://schemas.openxmlformats.org/officeDocument/2006/relationships/notesSlide" Target="/ppt/notesSlides/notesSlide2.xml" Id="Rf82a2d29c8d54e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409506b3764b53" /><Relationship Type="http://schemas.openxmlformats.org/officeDocument/2006/relationships/notesSlide" Target="/ppt/notesSlides/notesSlide3.xml" Id="R6497a146da8a41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0a94e5d94f4443" /><Relationship Type="http://schemas.openxmlformats.org/officeDocument/2006/relationships/chart" Target="/ppt/slides/charts/chart1.xml" Id="R12444c38bfde4752" /><Relationship Type="http://schemas.openxmlformats.org/officeDocument/2006/relationships/notesSlide" Target="/ppt/notesSlides/notesSlide4.xml" Id="Rbf0c378fa1ca4b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d74535949e454d" /><Relationship Type="http://schemas.openxmlformats.org/officeDocument/2006/relationships/notesSlide" Target="/ppt/notesSlides/notesSlide5.xml" Id="R03ed49d1ea0a48b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Development</c:v>
          </c:tx>
          <c:spPr>
            <a:solidFill xmlns:a="http://schemas.openxmlformats.org/drawingml/2006/main">
              <a:srgbClr val="A7BDB6"/>
            </a:solidFill>
          </c:spPr>
          <c:cat>
            <c:strRef>
              <c:f>'Chart Data'!$A$2:$A$4</c:f>
              <c:strCache>
                <c:ptCount val="3"/>
                <c:pt idx="0">
                  <c:v>Method median</c:v>
                </c:pt>
                <c:pt idx="1">
                  <c:v>Random Forest</c:v>
                </c:pt>
                <c:pt idx="2">
                  <c:v>XGBoost</c:v>
                </c:pt>
              </c:strCache>
            </c:strRef>
          </c:cat>
          <c:val>
            <c:numRef>
              <c:f>'Chart Data'!$B$2:$B$4</c:f>
              <c:numCache>
                <c:formatCode>0.00</c:formatCode>
                <c:ptCount val="3"/>
                <c:pt idx="0">
                  <c:v>4.85</c:v>
                </c:pt>
                <c:pt idx="1">
                  <c:v>1.94</c:v>
                </c:pt>
                <c:pt idx="2">
                  <c:v>1.9</c:v>
                </c:pt>
              </c:numCache>
            </c:numRef>
          </c:val>
        </c:ser>
        <c:ser>
          <c:idx val="1"/>
          <c:order val="1"/>
          <c:tx>
            <c:v>Holdout</c:v>
          </c:tx>
          <c:spPr>
            <a:solidFill xmlns:a="http://schemas.openxmlformats.org/drawingml/2006/main">
              <a:srgbClr val="00857B"/>
            </a:solidFill>
          </c:spPr>
          <c:cat>
            <c:strRef>
              <c:f>'Chart Data'!$C$2:$C$4</c:f>
              <c:strCache>
                <c:ptCount val="3"/>
                <c:pt idx="0">
                  <c:v>Method median</c:v>
                </c:pt>
                <c:pt idx="1">
                  <c:v>Random Forest</c:v>
                </c:pt>
                <c:pt idx="2">
                  <c:v>XGBoost</c:v>
                </c:pt>
              </c:strCache>
            </c:strRef>
          </c:cat>
          <c:val>
            <c:numRef>
              <c:f>'Chart Data'!$D$2:$D$4</c:f>
              <c:numCache>
                <c:formatCode>0.00</c:formatCode>
                <c:ptCount val="3"/>
                <c:pt idx="0">
                  <c:v>4.84</c:v>
                </c:pt>
                <c:pt idx="1">
                  <c:v>1.89</c:v>
                </c:pt>
                <c:pt idx="2">
                  <c:v>2.16</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4332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24332F"/>
                </a:solidFill>
                <a:latin typeface="Helvetica Neue"/>
                <a:ea typeface="Helvetica Neue"/>
                <a:cs typeface="Helvetica Neue"/>
              </a:defRPr>
            </a:pPr>
          </a:p>
        </c:txPr>
        <c:crossAx val="48672768"/>
      </c:catAx>
      <c:valAx>
        <c:axId val="48672768"/>
        <c:scaling>
          <c:orientation val="minMax"/>
          <c:max val="6"/>
          <c:min val="0"/>
        </c:scaling>
        <c:delete val="0"/>
        <c:axPos val="l"/>
        <c:majorGridlines>
          <c:spPr>
            <a:ln xmlns:a="http://schemas.openxmlformats.org/drawingml/2006/main" w="9525">
              <a:solidFill>
                <a:srgbClr val="E3E9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B65"/>
                </a:solidFill>
                <a:latin typeface="Helvetica Neue"/>
                <a:ea typeface="Helvetica Neue"/>
                <a:cs typeface="Helvetica Neue"/>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4332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BD83A1-726B-4493-827E-DA68D14C8E5A}"/>
              </a:ext>
            </a:extLst>
          </p:cNvPr>
          <p:cNvSpPr>
            <a:spLocks xmlns:a="http://schemas.openxmlformats.org/drawingml/2006/main" noGrp="1"/>
          </p:cNvSpPr>
          <p:nvPr/>
        </p:nvSpPr>
        <p:spPr>
          <a:xfrm xmlns:a="http://schemas.openxmlformats.org/drawingml/2006/main">
            <a:off x="571500" y="247650"/>
            <a:ext cx="514350" cy="57150"/>
          </a:xfrm>
          <a:prstGeom xmlns:a="http://schemas.openxmlformats.org/drawingml/2006/main" prst="rect">
            <a:avLst/>
          </a:prstGeom>
          <a:solidFill xmlns:a="http://schemas.openxmlformats.org/drawingml/2006/main">
            <a:srgbClr val="0085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4E0A0F-67DD-433F-AC77-D5099250D30F}"/>
              </a:ext>
            </a:extLst>
          </p:cNvPr>
          <p:cNvSpPr>
            <a:spLocks xmlns:a="http://schemas.openxmlformats.org/drawingml/2006/main" noGrp="1"/>
          </p:cNvSpPr>
          <p:nvPr/>
        </p:nvSpPr>
        <p:spPr>
          <a:xfrm xmlns:a="http://schemas.openxmlformats.org/drawingml/2006/main">
            <a:off x="571500" y="809625"/>
            <a:ext cx="4286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4332F"/>
                </a:solidFill>
                <a:latin typeface="Helvetica Neue"/>
                <a:ea typeface="Helvetica Neue"/>
                <a:cs typeface="Helvetica Neue"/>
              </a:defRPr>
            </a:pPr>
            <a:r>
              <a:rPr sz="4350" b="1">
                <a:solidFill>
                  <a:srgbClr val="24332F"/>
                </a:solidFill>
                <a:latin typeface="Helvetica Neue"/>
                <a:ea typeface="Helvetica Neue"/>
                <a:cs typeface="Helvetica Neue"/>
              </a:rPr>
              <a:t>LC Method</a:t>
            </a:r>
          </a:p>
          <a:p xmlns:a="http://schemas.openxmlformats.org/drawingml/2006/main">
            <a:pPr>
              <a:defRPr sz="4350" b="1">
                <a:solidFill>
                  <a:srgbClr val="24332F"/>
                </a:solidFill>
                <a:latin typeface="Helvetica Neue"/>
                <a:ea typeface="Helvetica Neue"/>
                <a:cs typeface="Helvetica Neue"/>
              </a:defRPr>
            </a:pPr>
            <a:r>
              <a:rPr sz="4350" b="1">
                <a:solidFill>
                  <a:srgbClr val="24332F"/>
                </a:solidFill>
                <a:latin typeface="Helvetica Neue"/>
                <a:ea typeface="Helvetica Neue"/>
                <a:cs typeface="Helvetica Neue"/>
              </a:rPr>
              <a:t>Explorer</a:t>
            </a:r>
          </a:p>
        </p:txBody>
      </p:sp>
      <p:sp>
        <p:nvSpPr>
          <p:cNvPr id="3" name="">
            <a:extLst xmlns:a="http://schemas.openxmlformats.org/drawingml/2006/main">
              <a:ext uri="{FF2B5EF4-FFF2-40B4-BE49-F238E27FC236}">
                <a16:creationId xmlns:a16="http://schemas.microsoft.com/office/drawing/2014/main" id="{9FC95CB5-1B8E-419D-9C9B-7D845961D0DE}"/>
              </a:ext>
            </a:extLst>
          </p:cNvPr>
          <p:cNvSpPr>
            <a:spLocks xmlns:a="http://schemas.openxmlformats.org/drawingml/2006/main" noGrp="1"/>
          </p:cNvSpPr>
          <p:nvPr/>
        </p:nvSpPr>
        <p:spPr>
          <a:xfrm xmlns:a="http://schemas.openxmlformats.org/drawingml/2006/main">
            <a:off x="571500" y="26289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0857B"/>
                </a:solidFill>
                <a:latin typeface="Helvetica Neue"/>
                <a:ea typeface="Helvetica Neue"/>
                <a:cs typeface="Helvetica Neue"/>
              </a:defRPr>
            </a:pPr>
            <a:r>
              <a:rPr sz="2400" b="0">
                <a:solidFill>
                  <a:srgbClr val="00857B"/>
                </a:solidFill>
                <a:latin typeface="Helvetica Neue"/>
                <a:ea typeface="Helvetica Neue"/>
                <a:cs typeface="Helvetica Neue"/>
              </a:rPr>
              <a:t>A local LC method-ranking prototype</a:t>
            </a:r>
          </a:p>
        </p:txBody>
      </p:sp>
      <p:sp>
        <p:nvSpPr>
          <p:cNvPr id="4" name="">
            <a:extLst xmlns:a="http://schemas.openxmlformats.org/drawingml/2006/main">
              <a:ext uri="{FF2B5EF4-FFF2-40B4-BE49-F238E27FC236}">
                <a16:creationId xmlns:a16="http://schemas.microsoft.com/office/drawing/2014/main" id="{8EB98C44-81ED-414D-9C54-0BF12F9EB8BD}"/>
              </a:ext>
            </a:extLst>
          </p:cNvPr>
          <p:cNvSpPr>
            <a:spLocks xmlns:a="http://schemas.openxmlformats.org/drawingml/2006/main" noGrp="1"/>
          </p:cNvSpPr>
          <p:nvPr/>
        </p:nvSpPr>
        <p:spPr>
          <a:xfrm xmlns:a="http://schemas.openxmlformats.org/drawingml/2006/main">
            <a:off x="571500" y="3962400"/>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32F"/>
                </a:solidFill>
                <a:latin typeface="Helvetica Neue"/>
                <a:ea typeface="Helvetica Neue"/>
                <a:cs typeface="Helvetica Neue"/>
              </a:defRPr>
            </a:pPr>
            <a:r>
              <a:rPr sz="2025" b="0">
                <a:solidFill>
                  <a:srgbClr val="24332F"/>
                </a:solidFill>
                <a:latin typeface="Helvetica Neue"/>
                <a:ea typeface="Helvetica Neue"/>
                <a:cs typeface="Helvetica Neue"/>
              </a:rPr>
              <a:t>Which supported method places a molecule inside a target retention window?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ca6f87cf7c04f39"/>
          <a:stretch xmlns:a="http://schemas.openxmlformats.org/drawingml/2006/main"/>
        </p:blipFill>
        <p:spPr>
          <a:xfrm xmlns:a="http://schemas.openxmlformats.org/drawingml/2006/main">
            <a:off x="5010150" y="1314450"/>
            <a:ext cx="6705600" cy="3771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C294E7B-6468-4DB9-8728-F0292246C22D}"/>
              </a:ext>
            </a:extLst>
          </p:cNvPr>
          <p:cNvSpPr>
            <a:spLocks xmlns:a="http://schemas.openxmlformats.org/drawingml/2006/main" noGrp="1"/>
          </p:cNvSpPr>
          <p:nvPr/>
        </p:nvSpPr>
        <p:spPr>
          <a:xfrm xmlns:a="http://schemas.openxmlformats.org/drawingml/2006/main">
            <a:off x="571500" y="6276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B65"/>
                </a:solidFill>
                <a:latin typeface="Helvetica Neue"/>
                <a:ea typeface="Helvetica Neue"/>
                <a:cs typeface="Helvetica Neue"/>
              </a:defRPr>
            </a:pPr>
            <a:r>
              <a:rPr sz="1350" b="0">
                <a:solidFill>
                  <a:srgbClr val="586B65"/>
                </a:solidFill>
                <a:latin typeface="Helvetica Neue"/>
                <a:ea typeface="Helvetica Neue"/>
                <a:cs typeface="Helvetica Neue"/>
              </a:rPr>
              <a:t>Research prototype using public measurements. Local training and inference. September 2026.</a:t>
            </a:r>
          </a:p>
        </p:txBody>
      </p:sp>
    </p:spTree>
    <p:extLst>
      <p:ext uri="{BB962C8B-B14F-4D97-AF65-F5344CB8AC3E}">
        <p14:creationId xmlns:p14="http://schemas.microsoft.com/office/powerpoint/2010/main" val="7963150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AECEE34-679A-4D37-8FF8-20DF45155854}"/>
              </a:ext>
            </a:extLst>
          </p:cNvPr>
          <p:cNvSpPr>
            <a:spLocks xmlns:a="http://schemas.openxmlformats.org/drawingml/2006/main" noGrp="1"/>
          </p:cNvSpPr>
          <p:nvPr/>
        </p:nvSpPr>
        <p:spPr>
          <a:xfrm xmlns:a="http://schemas.openxmlformats.org/drawingml/2006/main">
            <a:off x="571500" y="247650"/>
            <a:ext cx="514350" cy="57150"/>
          </a:xfrm>
          <a:prstGeom xmlns:a="http://schemas.openxmlformats.org/drawingml/2006/main" prst="rect">
            <a:avLst/>
          </a:prstGeom>
          <a:solidFill xmlns:a="http://schemas.openxmlformats.org/drawingml/2006/main">
            <a:srgbClr val="0085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6A6D76-40FD-4284-A0A1-2FAF7C798E51}"/>
              </a:ext>
            </a:extLst>
          </p:cNvPr>
          <p:cNvSpPr>
            <a:spLocks xmlns:a="http://schemas.openxmlformats.org/drawingml/2006/main" noGrp="1"/>
          </p:cNvSpPr>
          <p:nvPr/>
        </p:nvSpPr>
        <p:spPr>
          <a:xfrm xmlns:a="http://schemas.openxmlformats.org/drawingml/2006/main">
            <a:off x="571500" y="45720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332F"/>
                </a:solidFill>
                <a:latin typeface="Helvetica Neue"/>
                <a:ea typeface="Helvetica Neue"/>
                <a:cs typeface="Helvetica Neue"/>
              </a:defRPr>
            </a:pPr>
            <a:r>
              <a:rPr sz="3150" b="1">
                <a:solidFill>
                  <a:srgbClr val="24332F"/>
                </a:solidFill>
                <a:latin typeface="Helvetica Neue"/>
                <a:ea typeface="Helvetica Neue"/>
                <a:cs typeface="Helvetica Neue"/>
              </a:rPr>
              <a:t>MCMRT V3 covers the required condition axes</a:t>
            </a:r>
          </a:p>
        </p:txBody>
      </p:sp>
      <p:sp>
        <p:nvSpPr>
          <p:cNvPr id="3" name="">
            <a:extLst xmlns:a="http://schemas.openxmlformats.org/drawingml/2006/main">
              <a:ext uri="{FF2B5EF4-FFF2-40B4-BE49-F238E27FC236}">
                <a16:creationId xmlns:a16="http://schemas.microsoft.com/office/drawing/2014/main" id="{7795F66B-15FD-46DD-951A-C68A4BEF7CA7}"/>
              </a:ext>
            </a:extLst>
          </p:cNvPr>
          <p:cNvSpPr>
            <a:spLocks xmlns:a="http://schemas.openxmlformats.org/drawingml/2006/main" noGrp="1"/>
          </p:cNvSpPr>
          <p:nvPr/>
        </p:nvSpPr>
        <p:spPr>
          <a:xfrm xmlns:a="http://schemas.openxmlformats.org/drawingml/2006/main">
            <a:off x="571500" y="1381125"/>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857B"/>
                </a:solidFill>
                <a:latin typeface="Helvetica Neue"/>
                <a:ea typeface="Helvetica Neue"/>
                <a:cs typeface="Helvetica Neue"/>
              </a:defRPr>
            </a:pPr>
            <a:r>
              <a:rPr sz="4350" b="1">
                <a:solidFill>
                  <a:srgbClr val="00857B"/>
                </a:solidFill>
                <a:latin typeface="Helvetica Neue"/>
                <a:ea typeface="Helvetica Neue"/>
                <a:cs typeface="Helvetica Neue"/>
              </a:rPr>
              <a:t>10,073</a:t>
            </a:r>
          </a:p>
        </p:txBody>
      </p:sp>
      <p:sp>
        <p:nvSpPr>
          <p:cNvPr id="4" name="">
            <a:extLst xmlns:a="http://schemas.openxmlformats.org/drawingml/2006/main">
              <a:ext uri="{FF2B5EF4-FFF2-40B4-BE49-F238E27FC236}">
                <a16:creationId xmlns:a16="http://schemas.microsoft.com/office/drawing/2014/main" id="{95202D8F-861F-4862-B83E-A7454BECE5CE}"/>
              </a:ext>
            </a:extLst>
          </p:cNvPr>
          <p:cNvSpPr>
            <a:spLocks xmlns:a="http://schemas.openxmlformats.org/drawingml/2006/main" noGrp="1"/>
          </p:cNvSpPr>
          <p:nvPr/>
        </p:nvSpPr>
        <p:spPr>
          <a:xfrm xmlns:a="http://schemas.openxmlformats.org/drawingml/2006/main">
            <a:off x="571500" y="2143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32F"/>
                </a:solidFill>
                <a:latin typeface="Helvetica Neue"/>
                <a:ea typeface="Helvetica Neue"/>
                <a:cs typeface="Helvetica Neue"/>
              </a:defRPr>
            </a:pPr>
            <a:r>
              <a:rPr sz="1875" b="0">
                <a:solidFill>
                  <a:srgbClr val="24332F"/>
                </a:solidFill>
                <a:latin typeface="Helvetica Neue"/>
                <a:ea typeface="Helvetica Neue"/>
                <a:cs typeface="Helvetica Neue"/>
              </a:rPr>
              <a:t>measured retention times</a:t>
            </a:r>
          </a:p>
        </p:txBody>
      </p:sp>
      <p:sp>
        <p:nvSpPr>
          <p:cNvPr id="5" name="">
            <a:extLst xmlns:a="http://schemas.openxmlformats.org/drawingml/2006/main">
              <a:ext uri="{FF2B5EF4-FFF2-40B4-BE49-F238E27FC236}">
                <a16:creationId xmlns:a16="http://schemas.microsoft.com/office/drawing/2014/main" id="{EF6EDE27-F786-465F-B30A-E3F9DBC3F9D6}"/>
              </a:ext>
            </a:extLst>
          </p:cNvPr>
          <p:cNvSpPr>
            <a:spLocks xmlns:a="http://schemas.openxmlformats.org/drawingml/2006/main" noGrp="1"/>
          </p:cNvSpPr>
          <p:nvPr/>
        </p:nvSpPr>
        <p:spPr>
          <a:xfrm xmlns:a="http://schemas.openxmlformats.org/drawingml/2006/main">
            <a:off x="4429125" y="1381125"/>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857B"/>
                </a:solidFill>
                <a:latin typeface="Helvetica Neue"/>
                <a:ea typeface="Helvetica Neue"/>
                <a:cs typeface="Helvetica Neue"/>
              </a:defRPr>
            </a:pPr>
            <a:r>
              <a:rPr sz="4350" b="1">
                <a:solidFill>
                  <a:srgbClr val="00857B"/>
                </a:solidFill>
                <a:latin typeface="Helvetica Neue"/>
                <a:ea typeface="Helvetica Neue"/>
                <a:cs typeface="Helvetica Neue"/>
              </a:rPr>
              <a:t>343</a:t>
            </a:r>
          </a:p>
        </p:txBody>
      </p:sp>
      <p:sp>
        <p:nvSpPr>
          <p:cNvPr id="6" name="">
            <a:extLst xmlns:a="http://schemas.openxmlformats.org/drawingml/2006/main">
              <a:ext uri="{FF2B5EF4-FFF2-40B4-BE49-F238E27FC236}">
                <a16:creationId xmlns:a16="http://schemas.microsoft.com/office/drawing/2014/main" id="{3D27591E-01D3-4097-B476-951EC9429C9B}"/>
              </a:ext>
            </a:extLst>
          </p:cNvPr>
          <p:cNvSpPr>
            <a:spLocks xmlns:a="http://schemas.openxmlformats.org/drawingml/2006/main" noGrp="1"/>
          </p:cNvSpPr>
          <p:nvPr/>
        </p:nvSpPr>
        <p:spPr>
          <a:xfrm xmlns:a="http://schemas.openxmlformats.org/drawingml/2006/main">
            <a:off x="4429125" y="21431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32F"/>
                </a:solidFill>
                <a:latin typeface="Helvetica Neue"/>
                <a:ea typeface="Helvetica Neue"/>
                <a:cs typeface="Helvetica Neue"/>
              </a:defRPr>
            </a:pPr>
            <a:r>
              <a:rPr sz="1875" b="0">
                <a:solidFill>
                  <a:srgbClr val="24332F"/>
                </a:solidFill>
                <a:latin typeface="Helvetica Neue"/>
                <a:ea typeface="Helvetica Neue"/>
                <a:cs typeface="Helvetica Neue"/>
              </a:rPr>
              <a:t>source compounds</a:t>
            </a:r>
          </a:p>
        </p:txBody>
      </p:sp>
      <p:sp>
        <p:nvSpPr>
          <p:cNvPr id="7" name="">
            <a:extLst xmlns:a="http://schemas.openxmlformats.org/drawingml/2006/main">
              <a:ext uri="{FF2B5EF4-FFF2-40B4-BE49-F238E27FC236}">
                <a16:creationId xmlns:a16="http://schemas.microsoft.com/office/drawing/2014/main" id="{B956A9ED-8BF7-4E2A-A7A7-7BEB6D64C9D1}"/>
              </a:ext>
            </a:extLst>
          </p:cNvPr>
          <p:cNvSpPr>
            <a:spLocks xmlns:a="http://schemas.openxmlformats.org/drawingml/2006/main" noGrp="1"/>
          </p:cNvSpPr>
          <p:nvPr/>
        </p:nvSpPr>
        <p:spPr>
          <a:xfrm xmlns:a="http://schemas.openxmlformats.org/drawingml/2006/main">
            <a:off x="8572500" y="13811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0857B"/>
                </a:solidFill>
                <a:latin typeface="Helvetica Neue"/>
                <a:ea typeface="Helvetica Neue"/>
                <a:cs typeface="Helvetica Neue"/>
              </a:defRPr>
            </a:pPr>
            <a:r>
              <a:rPr sz="4350" b="1">
                <a:solidFill>
                  <a:srgbClr val="00857B"/>
                </a:solidFill>
                <a:latin typeface="Helvetica Neue"/>
                <a:ea typeface="Helvetica Neue"/>
                <a:cs typeface="Helvetica Neue"/>
              </a:rPr>
              <a:t>30</a:t>
            </a:r>
          </a:p>
        </p:txBody>
      </p:sp>
      <p:sp>
        <p:nvSpPr>
          <p:cNvPr id="8" name="">
            <a:extLst xmlns:a="http://schemas.openxmlformats.org/drawingml/2006/main">
              <a:ext uri="{FF2B5EF4-FFF2-40B4-BE49-F238E27FC236}">
                <a16:creationId xmlns:a16="http://schemas.microsoft.com/office/drawing/2014/main" id="{9286171D-C88F-4380-A5DC-885011FA11A2}"/>
              </a:ext>
            </a:extLst>
          </p:cNvPr>
          <p:cNvSpPr>
            <a:spLocks xmlns:a="http://schemas.openxmlformats.org/drawingml/2006/main" noGrp="1"/>
          </p:cNvSpPr>
          <p:nvPr/>
        </p:nvSpPr>
        <p:spPr>
          <a:xfrm xmlns:a="http://schemas.openxmlformats.org/drawingml/2006/main">
            <a:off x="8572500" y="21431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32F"/>
                </a:solidFill>
                <a:latin typeface="Helvetica Neue"/>
                <a:ea typeface="Helvetica Neue"/>
                <a:cs typeface="Helvetica Neue"/>
              </a:defRPr>
            </a:pPr>
            <a:r>
              <a:rPr sz="1875" b="0">
                <a:solidFill>
                  <a:srgbClr val="24332F"/>
                </a:solidFill>
                <a:latin typeface="Helvetica Neue"/>
                <a:ea typeface="Helvetica Neue"/>
                <a:cs typeface="Helvetica Neue"/>
              </a:rPr>
              <a:t>recorded methods</a:t>
            </a:r>
          </a:p>
        </p:txBody>
      </p:sp>
      <p:graphicFrame>
        <p:nvGraphicFramePr>
          <p:cNvPr id="22" name=""/>
          <p:cNvGraphicFramePr/>
          <p:nvPr/>
        </p:nvGraphicFramePr>
        <p:xfrm>
          <a:off xmlns:a="http://schemas.openxmlformats.org/drawingml/2006/main" x="571500" y="2943225"/>
          <a:ext xmlns:a="http://schemas.openxmlformats.org/drawingml/2006/main" cx="7239000" cy="2857500"/>
        </p:xfrm>
        <a:graphic xmlns:a="http://schemas.openxmlformats.org/drawingml/2006/main">
          <a:graphicData uri="http://schemas.openxmlformats.org/drawingml/2006/table">
            <a:tbl>
              <a:tblPr firstRow="0" bandRow="0"/>
              <a:tblGrid>
                <a:gridCol w="2857500"/>
                <a:gridCol w="4381500"/>
              </a:tblGrid>
              <a:tr h="476250">
                <a:tc>
                  <a:txBody>
                    <a:bodyPr/>
                    <a:lstStyle/>
                    <a:p>
                      <a:r>
                        <a:rPr sz="1800" b="1">
                          <a:solidFill>
                            <a:srgbClr val="24332F"/>
                          </a:solidFill>
                          <a:latin typeface="Helvetica Neue"/>
                          <a:ea typeface="Helvetica Neue"/>
                          <a:cs typeface="Helvetica Neue"/>
                        </a:rPr>
                        <a:t>Condition</a:t>
                      </a:r>
                    </a:p>
                  </a:txBody>
                  <a:tcPr marL="91440" marR="91440" marT="45720" marB="45720">
                    <a:solidFill>
                      <a:srgbClr val="EDF5F4"/>
                    </a:solidFill>
                  </a:tcPr>
                </a:tc>
                <a:tc>
                  <a:txBody>
                    <a:bodyPr/>
                    <a:lstStyle/>
                    <a:p>
                      <a:r>
                        <a:rPr sz="1800" b="1">
                          <a:solidFill>
                            <a:srgbClr val="24332F"/>
                          </a:solidFill>
                          <a:latin typeface="Helvetica Neue"/>
                          <a:ea typeface="Helvetica Neue"/>
                          <a:cs typeface="Helvetica Neue"/>
                        </a:rPr>
                        <a:t>Observed coverage</a:t>
                      </a:r>
                    </a:p>
                  </a:txBody>
                  <a:tcPr marL="91440" marR="91440" marT="45720" marB="45720">
                    <a:solidFill>
                      <a:srgbClr val="EDF5F4"/>
                    </a:solidFill>
                  </a:tcPr>
                </a:tc>
              </a:tr>
              <a:tr h="476250">
                <a:tc>
                  <a:txBody>
                    <a:bodyPr/>
                    <a:lstStyle/>
                    <a:p>
                      <a:r>
                        <a:rPr sz="1800" b="0">
                          <a:solidFill>
                            <a:srgbClr val="24332F"/>
                          </a:solidFill>
                          <a:latin typeface="Helvetica Neue"/>
                          <a:ea typeface="Helvetica Neue"/>
                          <a:cs typeface="Helvetica Neue"/>
                        </a:rPr>
                        <a:t>Column products</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6 within the RP C18 family</a:t>
                      </a:r>
                    </a:p>
                  </a:txBody>
                  <a:tcPr marL="91440" marR="91440" marT="45720" marB="45720">
                    <a:solidFill>
                      <a:srgbClr val="FFFFFF"/>
                    </a:solidFill>
                  </a:tcPr>
                </a:tc>
              </a:tr>
              <a:tr h="476250">
                <a:tc>
                  <a:txBody>
                    <a:bodyPr/>
                    <a:lstStyle/>
                    <a:p>
                      <a:r>
                        <a:rPr sz="1800" b="0">
                          <a:solidFill>
                            <a:srgbClr val="24332F"/>
                          </a:solidFill>
                          <a:latin typeface="Helvetica Neue"/>
                          <a:ea typeface="Helvetica Neue"/>
                          <a:cs typeface="Helvetica Neue"/>
                        </a:rPr>
                        <a:t>Mobile-phase pairs</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6 A/B pairs</a:t>
                      </a:r>
                    </a:p>
                  </a:txBody>
                  <a:tcPr marL="91440" marR="91440" marT="45720" marB="45720">
                    <a:solidFill>
                      <a:srgbClr val="FFFFFF"/>
                    </a:solidFill>
                  </a:tcPr>
                </a:tc>
              </a:tr>
              <a:tr h="476250">
                <a:tc>
                  <a:txBody>
                    <a:bodyPr/>
                    <a:lstStyle/>
                    <a:p>
                      <a:r>
                        <a:rPr sz="1800" b="0">
                          <a:solidFill>
                            <a:srgbClr val="24332F"/>
                          </a:solidFill>
                          <a:latin typeface="Helvetica Neue"/>
                          <a:ea typeface="Helvetica Neue"/>
                          <a:cs typeface="Helvetica Neue"/>
                        </a:rPr>
                        <a:t>Time / %B schedules</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15 distinct schedules</a:t>
                      </a:r>
                    </a:p>
                  </a:txBody>
                  <a:tcPr marL="91440" marR="91440" marT="45720" marB="45720">
                    <a:solidFill>
                      <a:srgbClr val="FFFFFF"/>
                    </a:solidFill>
                  </a:tcPr>
                </a:tc>
              </a:tr>
              <a:tr h="476250">
                <a:tc>
                  <a:txBody>
                    <a:bodyPr/>
                    <a:lstStyle/>
                    <a:p>
                      <a:r>
                        <a:rPr sz="1800" b="0">
                          <a:solidFill>
                            <a:srgbClr val="24332F"/>
                          </a:solidFill>
                          <a:latin typeface="Helvetica Neue"/>
                          <a:ea typeface="Helvetica Neue"/>
                          <a:cs typeface="Helvetica Neue"/>
                        </a:rPr>
                        <a:t>Column temperature</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30, 40, 45 °C</a:t>
                      </a:r>
                    </a:p>
                  </a:txBody>
                  <a:tcPr marL="91440" marR="91440" marT="45720" marB="45720">
                    <a:solidFill>
                      <a:srgbClr val="FFFFFF"/>
                    </a:solidFill>
                  </a:tcPr>
                </a:tc>
              </a:tr>
              <a:tr h="476250">
                <a:tc>
                  <a:txBody>
                    <a:bodyPr/>
                    <a:lstStyle/>
                    <a:p>
                      <a:r>
                        <a:rPr sz="1800" b="0">
                          <a:solidFill>
                            <a:srgbClr val="24332F"/>
                          </a:solidFill>
                          <a:latin typeface="Helvetica Neue"/>
                          <a:ea typeface="Helvetica Neue"/>
                          <a:cs typeface="Helvetica Neue"/>
                        </a:rPr>
                        <a:t>Total run duration</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10–100 minutes</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74F37949-F1C7-4E4C-AB61-F8F87736F2D6}"/>
              </a:ext>
            </a:extLst>
          </p:cNvPr>
          <p:cNvSpPr>
            <a:spLocks xmlns:a="http://schemas.openxmlformats.org/drawingml/2006/main" noGrp="1"/>
          </p:cNvSpPr>
          <p:nvPr/>
        </p:nvSpPr>
        <p:spPr>
          <a:xfrm xmlns:a="http://schemas.openxmlformats.org/drawingml/2006/main">
            <a:off x="8286750" y="3009900"/>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332F"/>
                </a:solidFill>
                <a:latin typeface="Helvetica Neue"/>
                <a:ea typeface="Helvetica Neue"/>
                <a:cs typeface="Helvetica Neue"/>
              </a:defRPr>
            </a:pPr>
            <a:r>
              <a:rPr sz="3000" b="1">
                <a:solidFill>
                  <a:srgbClr val="24332F"/>
                </a:solidFill>
                <a:latin typeface="Helvetica Neue"/>
                <a:ea typeface="Helvetica Neue"/>
                <a:cs typeface="Helvetica Neue"/>
              </a:rPr>
              <a:t>330 of 343</a:t>
            </a:r>
          </a:p>
        </p:txBody>
      </p:sp>
      <p:sp>
        <p:nvSpPr>
          <p:cNvPr id="11" name="">
            <a:extLst xmlns:a="http://schemas.openxmlformats.org/drawingml/2006/main">
              <a:ext uri="{FF2B5EF4-FFF2-40B4-BE49-F238E27FC236}">
                <a16:creationId xmlns:a16="http://schemas.microsoft.com/office/drawing/2014/main" id="{6A79DE33-C71A-4F09-B802-FF0E13A6B4BE}"/>
              </a:ext>
            </a:extLst>
          </p:cNvPr>
          <p:cNvSpPr>
            <a:spLocks xmlns:a="http://schemas.openxmlformats.org/drawingml/2006/main" noGrp="1"/>
          </p:cNvSpPr>
          <p:nvPr/>
        </p:nvSpPr>
        <p:spPr>
          <a:xfrm xmlns:a="http://schemas.openxmlformats.org/drawingml/2006/main">
            <a:off x="8286750" y="369570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compounds have measurements</a:t>
            </a:r>
          </a:p>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under every method.</a:t>
            </a:r>
          </a:p>
        </p:txBody>
      </p:sp>
      <p:sp>
        <p:nvSpPr>
          <p:cNvPr id="12" name="">
            <a:extLst xmlns:a="http://schemas.openxmlformats.org/drawingml/2006/main">
              <a:ext uri="{FF2B5EF4-FFF2-40B4-BE49-F238E27FC236}">
                <a16:creationId xmlns:a16="http://schemas.microsoft.com/office/drawing/2014/main" id="{F97F16AA-E763-4230-8F78-4D6ABFAFD958}"/>
              </a:ext>
            </a:extLst>
          </p:cNvPr>
          <p:cNvSpPr>
            <a:spLocks xmlns:a="http://schemas.openxmlformats.org/drawingml/2006/main" noGrp="1"/>
          </p:cNvSpPr>
          <p:nvPr/>
        </p:nvSpPr>
        <p:spPr>
          <a:xfrm xmlns:a="http://schemas.openxmlformats.org/drawingml/2006/main">
            <a:off x="8286750" y="4829175"/>
            <a:ext cx="328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B65"/>
                </a:solidFill>
                <a:latin typeface="Helvetica Neue"/>
                <a:ea typeface="Helvetica Neue"/>
                <a:cs typeface="Helvetica Neue"/>
              </a:defRPr>
            </a:pPr>
            <a:r>
              <a:rPr sz="1950" b="0">
                <a:solidFill>
                  <a:srgbClr val="586B65"/>
                </a:solidFill>
                <a:latin typeface="Helvetica Neue"/>
                <a:ea typeface="Helvetica Neue"/>
                <a:cs typeface="Helvetica Neue"/>
              </a:rPr>
              <a:t>217 missing pairs stay</a:t>
            </a:r>
          </a:p>
          <a:p xmlns:a="http://schemas.openxmlformats.org/drawingml/2006/main">
            <a:pPr>
              <a:defRPr sz="1950" b="0">
                <a:solidFill>
                  <a:srgbClr val="586B65"/>
                </a:solidFill>
                <a:latin typeface="Helvetica Neue"/>
                <a:ea typeface="Helvetica Neue"/>
                <a:cs typeface="Helvetica Neue"/>
              </a:defRPr>
            </a:pPr>
            <a:r>
              <a:rPr sz="1950" b="0">
                <a:solidFill>
                  <a:srgbClr val="586B65"/>
                </a:solidFill>
                <a:latin typeface="Helvetica Neue"/>
                <a:ea typeface="Helvetica Neue"/>
                <a:cs typeface="Helvetica Neue"/>
              </a:rPr>
              <a:t>unobserved.</a:t>
            </a:r>
          </a:p>
        </p:txBody>
      </p:sp>
      <p:sp>
        <p:nvSpPr>
          <p:cNvPr id="13" name="">
            <a:extLst xmlns:a="http://schemas.openxmlformats.org/drawingml/2006/main">
              <a:ext uri="{FF2B5EF4-FFF2-40B4-BE49-F238E27FC236}">
                <a16:creationId xmlns:a16="http://schemas.microsoft.com/office/drawing/2014/main" id="{60224F30-5ECD-428F-8E2E-7F1DBDB11B70}"/>
              </a:ext>
            </a:extLst>
          </p:cNvPr>
          <p:cNvSpPr>
            <a:spLocks xmlns:a="http://schemas.openxmlformats.org/drawingml/2006/main" noGrp="1"/>
          </p:cNvSpPr>
          <p:nvPr/>
        </p:nvSpPr>
        <p:spPr>
          <a:xfrm xmlns:a="http://schemas.openxmlformats.org/drawingml/2006/main">
            <a:off x="571500" y="6276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B65"/>
                </a:solidFill>
                <a:latin typeface="Helvetica Neue"/>
                <a:ea typeface="Helvetica Neue"/>
                <a:cs typeface="Helvetica Neue"/>
              </a:defRPr>
            </a:pPr>
            <a:r>
              <a:rPr sz="1350" b="0">
                <a:solidFill>
                  <a:srgbClr val="586B65"/>
                </a:solidFill>
                <a:latin typeface="Helvetica Neue"/>
                <a:ea typeface="Helvetica Neue"/>
                <a:cs typeface="Helvetica Neue"/>
              </a:rPr>
              <a:t>Source: MCMRT V3, DOI 10.57760/sciencedb.15823. Coverage is not a full factorial design.</a:t>
            </a:r>
          </a:p>
        </p:txBody>
      </p:sp>
    </p:spTree>
    <p:extLst>
      <p:ext uri="{BB962C8B-B14F-4D97-AF65-F5344CB8AC3E}">
        <p14:creationId xmlns:p14="http://schemas.microsoft.com/office/powerpoint/2010/main" val="18298616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A13C0B-C323-4E1A-B705-F0CA27B61890}"/>
              </a:ext>
            </a:extLst>
          </p:cNvPr>
          <p:cNvSpPr>
            <a:spLocks xmlns:a="http://schemas.openxmlformats.org/drawingml/2006/main" noGrp="1"/>
          </p:cNvSpPr>
          <p:nvPr/>
        </p:nvSpPr>
        <p:spPr>
          <a:xfrm xmlns:a="http://schemas.openxmlformats.org/drawingml/2006/main">
            <a:off x="571500" y="247650"/>
            <a:ext cx="514350" cy="57150"/>
          </a:xfrm>
          <a:prstGeom xmlns:a="http://schemas.openxmlformats.org/drawingml/2006/main" prst="rect">
            <a:avLst/>
          </a:prstGeom>
          <a:solidFill xmlns:a="http://schemas.openxmlformats.org/drawingml/2006/main">
            <a:srgbClr val="0085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892F76-1313-432B-A5BD-6977B1067A2A}"/>
              </a:ext>
            </a:extLst>
          </p:cNvPr>
          <p:cNvSpPr>
            <a:spLocks xmlns:a="http://schemas.openxmlformats.org/drawingml/2006/main" noGrp="1"/>
          </p:cNvSpPr>
          <p:nvPr/>
        </p:nvSpPr>
        <p:spPr>
          <a:xfrm xmlns:a="http://schemas.openxmlformats.org/drawingml/2006/main">
            <a:off x="571500" y="45720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332F"/>
                </a:solidFill>
                <a:latin typeface="Helvetica Neue"/>
                <a:ea typeface="Helvetica Neue"/>
                <a:cs typeface="Helvetica Neue"/>
              </a:defRPr>
            </a:pPr>
            <a:r>
              <a:rPr sz="3150" b="1">
                <a:solidFill>
                  <a:srgbClr val="24332F"/>
                </a:solidFill>
                <a:latin typeface="Helvetica Neue"/>
                <a:ea typeface="Helvetica Neue"/>
                <a:cs typeface="Helvetica Neue"/>
              </a:rPr>
              <a:t>Compound groups define the evaluation</a:t>
            </a:r>
          </a:p>
        </p:txBody>
      </p:sp>
      <p:sp>
        <p:nvSpPr>
          <p:cNvPr id="3" name="">
            <a:extLst xmlns:a="http://schemas.openxmlformats.org/drawingml/2006/main">
              <a:ext uri="{FF2B5EF4-FFF2-40B4-BE49-F238E27FC236}">
                <a16:creationId xmlns:a16="http://schemas.microsoft.com/office/drawing/2014/main" id="{97CC52E9-EB70-48CB-8997-98AB0D775462}"/>
              </a:ext>
            </a:extLst>
          </p:cNvPr>
          <p:cNvSpPr>
            <a:spLocks xmlns:a="http://schemas.openxmlformats.org/drawingml/2006/main" noGrp="1"/>
          </p:cNvSpPr>
          <p:nvPr/>
        </p:nvSpPr>
        <p:spPr>
          <a:xfrm xmlns:a="http://schemas.openxmlformats.org/drawingml/2006/main">
            <a:off x="571500" y="14001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0857B"/>
                </a:solidFill>
                <a:latin typeface="Helvetica Neue"/>
                <a:ea typeface="Helvetica Neue"/>
                <a:cs typeface="Helvetica Neue"/>
              </a:defRPr>
            </a:pPr>
            <a:r>
              <a:rPr sz="2250" b="0">
                <a:solidFill>
                  <a:srgbClr val="00857B"/>
                </a:solidFill>
                <a:latin typeface="Helvetica Neue"/>
                <a:ea typeface="Helvetica Neue"/>
                <a:cs typeface="Helvetica Neue"/>
              </a:rPr>
              <a:t>Keep each compound group together across all methods.</a:t>
            </a:r>
          </a:p>
        </p:txBody>
      </p:sp>
      <p:graphicFrame>
        <p:nvGraphicFramePr>
          <p:cNvPr id="13" name=""/>
          <p:cNvGraphicFramePr/>
          <p:nvPr/>
        </p:nvGraphicFramePr>
        <p:xfrm>
          <a:off xmlns:a="http://schemas.openxmlformats.org/drawingml/2006/main" x="571500" y="2152650"/>
          <a:ext xmlns:a="http://schemas.openxmlformats.org/drawingml/2006/main" cx="11049000" cy="1657350"/>
        </p:xfrm>
        <a:graphic xmlns:a="http://schemas.openxmlformats.org/drawingml/2006/main">
          <a:graphicData uri="http://schemas.openxmlformats.org/drawingml/2006/table">
            <a:tbl>
              <a:tblPr firstRow="0" bandRow="0"/>
              <a:tblGrid>
                <a:gridCol w="2476500"/>
                <a:gridCol w="3143250"/>
                <a:gridCol w="2286000"/>
                <a:gridCol w="3143250"/>
              </a:tblGrid>
              <a:tr h="552450">
                <a:tc>
                  <a:txBody>
                    <a:bodyPr/>
                    <a:lstStyle/>
                    <a:p>
                      <a:r>
                        <a:rPr sz="1800" b="1">
                          <a:solidFill>
                            <a:srgbClr val="24332F"/>
                          </a:solidFill>
                          <a:latin typeface="Helvetica Neue"/>
                          <a:ea typeface="Helvetica Neue"/>
                          <a:cs typeface="Helvetica Neue"/>
                        </a:rPr>
                        <a:t>Partition</a:t>
                      </a:r>
                    </a:p>
                  </a:txBody>
                  <a:tcPr marL="91440" marR="91440" marT="45720" marB="45720">
                    <a:solidFill>
                      <a:srgbClr val="EDF5F4"/>
                    </a:solidFill>
                  </a:tcPr>
                </a:tc>
                <a:tc>
                  <a:txBody>
                    <a:bodyPr/>
                    <a:lstStyle/>
                    <a:p>
                      <a:r>
                        <a:rPr sz="1800" b="1">
                          <a:solidFill>
                            <a:srgbClr val="24332F"/>
                          </a:solidFill>
                          <a:latin typeface="Helvetica Neue"/>
                          <a:ea typeface="Helvetica Neue"/>
                          <a:cs typeface="Helvetica Neue"/>
                        </a:rPr>
                        <a:t>Compounds / groups</a:t>
                      </a:r>
                    </a:p>
                  </a:txBody>
                  <a:tcPr marL="91440" marR="91440" marT="45720" marB="45720">
                    <a:solidFill>
                      <a:srgbClr val="EDF5F4"/>
                    </a:solidFill>
                  </a:tcPr>
                </a:tc>
                <a:tc>
                  <a:txBody>
                    <a:bodyPr/>
                    <a:lstStyle/>
                    <a:p>
                      <a:r>
                        <a:rPr sz="1800" b="1">
                          <a:solidFill>
                            <a:srgbClr val="24332F"/>
                          </a:solidFill>
                          <a:latin typeface="Helvetica Neue"/>
                          <a:ea typeface="Helvetica Neue"/>
                          <a:cs typeface="Helvetica Neue"/>
                        </a:rPr>
                        <a:t>Observations</a:t>
                      </a:r>
                    </a:p>
                  </a:txBody>
                  <a:tcPr marL="91440" marR="91440" marT="45720" marB="45720">
                    <a:solidFill>
                      <a:srgbClr val="EDF5F4"/>
                    </a:solidFill>
                  </a:tcPr>
                </a:tc>
                <a:tc>
                  <a:txBody>
                    <a:bodyPr/>
                    <a:lstStyle/>
                    <a:p>
                      <a:r>
                        <a:rPr sz="1800" b="1">
                          <a:solidFill>
                            <a:srgbClr val="24332F"/>
                          </a:solidFill>
                          <a:latin typeface="Helvetica Neue"/>
                          <a:ea typeface="Helvetica Neue"/>
                          <a:cs typeface="Helvetica Neue"/>
                        </a:rPr>
                        <a:t>Purpose</a:t>
                      </a:r>
                    </a:p>
                  </a:txBody>
                  <a:tcPr marL="91440" marR="91440" marT="45720" marB="45720">
                    <a:solidFill>
                      <a:srgbClr val="EDF5F4"/>
                    </a:solidFill>
                  </a:tcPr>
                </a:tc>
              </a:tr>
              <a:tr h="552450">
                <a:tc>
                  <a:txBody>
                    <a:bodyPr/>
                    <a:lstStyle/>
                    <a:p>
                      <a:r>
                        <a:rPr sz="1800" b="0">
                          <a:solidFill>
                            <a:srgbClr val="24332F"/>
                          </a:solidFill>
                          <a:latin typeface="Helvetica Neue"/>
                          <a:ea typeface="Helvetica Neue"/>
                          <a:cs typeface="Helvetica Neue"/>
                        </a:rPr>
                        <a:t>Development</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273 / 272</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8,026</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Five grouped folds</a:t>
                      </a:r>
                    </a:p>
                  </a:txBody>
                  <a:tcPr marL="91440" marR="91440" marT="45720" marB="45720">
                    <a:solidFill>
                      <a:srgbClr val="FFFFFF"/>
                    </a:solidFill>
                  </a:tcPr>
                </a:tc>
              </a:tr>
              <a:tr h="552450">
                <a:tc>
                  <a:txBody>
                    <a:bodyPr/>
                    <a:lstStyle/>
                    <a:p>
                      <a:r>
                        <a:rPr sz="1800" b="0">
                          <a:solidFill>
                            <a:srgbClr val="24332F"/>
                          </a:solidFill>
                          <a:latin typeface="Helvetica Neue"/>
                          <a:ea typeface="Helvetica Neue"/>
                          <a:cs typeface="Helvetica Neue"/>
                        </a:rPr>
                        <a:t>Final holdout</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70 / 69</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2,047</a:t>
                      </a:r>
                    </a:p>
                  </a:txBody>
                  <a:tcPr marL="91440" marR="91440" marT="45720" marB="45720">
                    <a:solidFill>
                      <a:srgbClr val="FFFFFF"/>
                    </a:solidFill>
                  </a:tcPr>
                </a:tc>
                <a:tc>
                  <a:txBody>
                    <a:bodyPr/>
                    <a:lstStyle/>
                    <a:p>
                      <a:r>
                        <a:rPr sz="1800" b="0">
                          <a:solidFill>
                            <a:srgbClr val="24332F"/>
                          </a:solidFill>
                          <a:latin typeface="Helvetica Neue"/>
                          <a:ea typeface="Helvetica Neue"/>
                          <a:cs typeface="Helvetica Neue"/>
                        </a:rPr>
                        <a:t>One final evaluation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B712B1-4F45-4614-8EBA-5410638390C6}"/>
              </a:ext>
            </a:extLst>
          </p:cNvPr>
          <p:cNvSpPr>
            <a:spLocks xmlns:a="http://schemas.openxmlformats.org/drawingml/2006/main" noGrp="1"/>
          </p:cNvSpPr>
          <p:nvPr/>
        </p:nvSpPr>
        <p:spPr>
          <a:xfrm xmlns:a="http://schemas.openxmlformats.org/drawingml/2006/main">
            <a:off x="571500" y="42481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332F"/>
                </a:solidFill>
                <a:latin typeface="Helvetica Neue"/>
                <a:ea typeface="Helvetica Neue"/>
                <a:cs typeface="Helvetica Neue"/>
              </a:defRPr>
            </a:pPr>
            <a:r>
              <a:rPr sz="2100" b="1">
                <a:solidFill>
                  <a:srgbClr val="24332F"/>
                </a:solidFill>
                <a:latin typeface="Helvetica Neue"/>
                <a:ea typeface="Helvetica Neue"/>
                <a:cs typeface="Helvetica Neue"/>
              </a:rPr>
              <a:t>Inputs available before measurement</a:t>
            </a:r>
          </a:p>
        </p:txBody>
      </p:sp>
      <p:sp>
        <p:nvSpPr>
          <p:cNvPr id="6" name="">
            <a:extLst xmlns:a="http://schemas.openxmlformats.org/drawingml/2006/main">
              <a:ext uri="{FF2B5EF4-FFF2-40B4-BE49-F238E27FC236}">
                <a16:creationId xmlns:a16="http://schemas.microsoft.com/office/drawing/2014/main" id="{80652F66-55FC-48F9-ACC7-2CD397E6D9B4}"/>
              </a:ext>
            </a:extLst>
          </p:cNvPr>
          <p:cNvSpPr>
            <a:spLocks xmlns:a="http://schemas.openxmlformats.org/drawingml/2006/main" noGrp="1"/>
          </p:cNvSpPr>
          <p:nvPr/>
        </p:nvSpPr>
        <p:spPr>
          <a:xfrm xmlns:a="http://schemas.openxmlformats.org/drawingml/2006/main">
            <a:off x="571500" y="47625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32F"/>
                </a:solidFill>
                <a:latin typeface="Helvetica Neue"/>
                <a:ea typeface="Helvetica Neue"/>
                <a:cs typeface="Helvetica Neue"/>
              </a:defRPr>
            </a:pPr>
            <a:r>
              <a:rPr sz="2025" b="0">
                <a:solidFill>
                  <a:srgbClr val="24332F"/>
                </a:solidFill>
                <a:latin typeface="Helvetica Neue"/>
                <a:ea typeface="Helvetica Neue"/>
                <a:cs typeface="Helvetica Neue"/>
              </a:rPr>
              <a:t>21 molecular descriptors plus column, solvent, temperature and gradient features.</a:t>
            </a:r>
          </a:p>
        </p:txBody>
      </p:sp>
      <p:sp>
        <p:nvSpPr>
          <p:cNvPr id="7" name="">
            <a:extLst xmlns:a="http://schemas.openxmlformats.org/drawingml/2006/main">
              <a:ext uri="{FF2B5EF4-FFF2-40B4-BE49-F238E27FC236}">
                <a16:creationId xmlns:a16="http://schemas.microsoft.com/office/drawing/2014/main" id="{336C70D7-2961-4320-8B78-E7A13533B270}"/>
              </a:ext>
            </a:extLst>
          </p:cNvPr>
          <p:cNvSpPr>
            <a:spLocks xmlns:a="http://schemas.openxmlformats.org/drawingml/2006/main" noGrp="1"/>
          </p:cNvSpPr>
          <p:nvPr/>
        </p:nvSpPr>
        <p:spPr>
          <a:xfrm xmlns:a="http://schemas.openxmlformats.org/drawingml/2006/main">
            <a:off x="6477000" y="42481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332F"/>
                </a:solidFill>
                <a:latin typeface="Helvetica Neue"/>
                <a:ea typeface="Helvetica Neue"/>
                <a:cs typeface="Helvetica Neue"/>
              </a:defRPr>
            </a:pPr>
            <a:r>
              <a:rPr sz="2100" b="1">
                <a:solidFill>
                  <a:srgbClr val="24332F"/>
                </a:solidFill>
                <a:latin typeface="Helvetica Neue"/>
                <a:ea typeface="Helvetica Neue"/>
                <a:cs typeface="Helvetica Neue"/>
              </a:rPr>
              <a:t>Selection stays inside development</a:t>
            </a:r>
          </a:p>
        </p:txBody>
      </p:sp>
      <p:sp>
        <p:nvSpPr>
          <p:cNvPr id="8" name="">
            <a:extLst xmlns:a="http://schemas.openxmlformats.org/drawingml/2006/main">
              <a:ext uri="{FF2B5EF4-FFF2-40B4-BE49-F238E27FC236}">
                <a16:creationId xmlns:a16="http://schemas.microsoft.com/office/drawing/2014/main" id="{07D7DE8C-F32C-45F8-9D96-9D8D49E7019F}"/>
              </a:ext>
            </a:extLst>
          </p:cNvPr>
          <p:cNvSpPr>
            <a:spLocks xmlns:a="http://schemas.openxmlformats.org/drawingml/2006/main" noGrp="1"/>
          </p:cNvSpPr>
          <p:nvPr/>
        </p:nvSpPr>
        <p:spPr>
          <a:xfrm xmlns:a="http://schemas.openxmlformats.org/drawingml/2006/main">
            <a:off x="6477000" y="4762500"/>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32F"/>
                </a:solidFill>
                <a:latin typeface="Helvetica Neue"/>
                <a:ea typeface="Helvetica Neue"/>
                <a:cs typeface="Helvetica Neue"/>
              </a:defRPr>
            </a:pPr>
            <a:r>
              <a:rPr sz="2025" b="0">
                <a:solidFill>
                  <a:srgbClr val="24332F"/>
                </a:solidFill>
                <a:latin typeface="Helvetica Neue"/>
                <a:ea typeface="Helvetica Neue"/>
                <a:cs typeface="Helvetica Neue"/>
              </a:rPr>
              <a:t>Three configurations per tree family. Select by MAE, freeze the choice, then evaluate the holdout.</a:t>
            </a:r>
          </a:p>
        </p:txBody>
      </p:sp>
      <p:sp>
        <p:nvSpPr>
          <p:cNvPr id="9" name="">
            <a:extLst xmlns:a="http://schemas.openxmlformats.org/drawingml/2006/main">
              <a:ext uri="{FF2B5EF4-FFF2-40B4-BE49-F238E27FC236}">
                <a16:creationId xmlns:a16="http://schemas.microsoft.com/office/drawing/2014/main" id="{23D870C4-B09C-410B-87D5-BBC441185242}"/>
              </a:ext>
            </a:extLst>
          </p:cNvPr>
          <p:cNvSpPr>
            <a:spLocks xmlns:a="http://schemas.openxmlformats.org/drawingml/2006/main" noGrp="1"/>
          </p:cNvSpPr>
          <p:nvPr/>
        </p:nvSpPr>
        <p:spPr>
          <a:xfrm xmlns:a="http://schemas.openxmlformats.org/drawingml/2006/main">
            <a:off x="571500" y="6276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B65"/>
                </a:solidFill>
                <a:latin typeface="Helvetica Neue"/>
                <a:ea typeface="Helvetica Neue"/>
                <a:cs typeface="Helvetica Neue"/>
              </a:defRPr>
            </a:pPr>
            <a:r>
              <a:rPr sz="1350" b="0">
                <a:solidFill>
                  <a:srgbClr val="586B65"/>
                </a:solidFill>
                <a:latin typeface="Helvetica Neue"/>
                <a:ea typeface="Helvetica Neue"/>
                <a:cs typeface="Helvetica Neue"/>
              </a:rPr>
              <a:t>Target: unseen compound groups under familiar methods. Grouping is not scaffold separation.</a:t>
            </a:r>
          </a:p>
        </p:txBody>
      </p:sp>
    </p:spTree>
    <p:extLst>
      <p:ext uri="{BB962C8B-B14F-4D97-AF65-F5344CB8AC3E}">
        <p14:creationId xmlns:p14="http://schemas.microsoft.com/office/powerpoint/2010/main" val="11074716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E876BA-98C1-4514-A496-B6B8B41A02E6}"/>
              </a:ext>
            </a:extLst>
          </p:cNvPr>
          <p:cNvSpPr>
            <a:spLocks xmlns:a="http://schemas.openxmlformats.org/drawingml/2006/main" noGrp="1"/>
          </p:cNvSpPr>
          <p:nvPr/>
        </p:nvSpPr>
        <p:spPr>
          <a:xfrm xmlns:a="http://schemas.openxmlformats.org/drawingml/2006/main">
            <a:off x="571500" y="247650"/>
            <a:ext cx="514350" cy="57150"/>
          </a:xfrm>
          <a:prstGeom xmlns:a="http://schemas.openxmlformats.org/drawingml/2006/main" prst="rect">
            <a:avLst/>
          </a:prstGeom>
          <a:solidFill xmlns:a="http://schemas.openxmlformats.org/drawingml/2006/main">
            <a:srgbClr val="0085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C1E094-C206-437B-AB7D-6310DDC6528D}"/>
              </a:ext>
            </a:extLst>
          </p:cNvPr>
          <p:cNvSpPr>
            <a:spLocks xmlns:a="http://schemas.openxmlformats.org/drawingml/2006/main" noGrp="1"/>
          </p:cNvSpPr>
          <p:nvPr/>
        </p:nvSpPr>
        <p:spPr>
          <a:xfrm xmlns:a="http://schemas.openxmlformats.org/drawingml/2006/main">
            <a:off x="571500" y="45720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332F"/>
                </a:solidFill>
                <a:latin typeface="Helvetica Neue"/>
                <a:ea typeface="Helvetica Neue"/>
                <a:cs typeface="Helvetica Neue"/>
              </a:defRPr>
            </a:pPr>
            <a:r>
              <a:rPr sz="3150" b="1">
                <a:solidFill>
                  <a:srgbClr val="24332F"/>
                </a:solidFill>
                <a:latin typeface="Helvetica Neue"/>
                <a:ea typeface="Helvetica Neue"/>
                <a:cs typeface="Helvetica Neue"/>
              </a:rPr>
              <a:t>Lower timing error, modest ranking gain</a:t>
            </a:r>
          </a:p>
        </p:txBody>
      </p:sp>
      <p:sp>
        <p:nvSpPr>
          <p:cNvPr id="3" name="">
            <a:extLst xmlns:a="http://schemas.openxmlformats.org/drawingml/2006/main">
              <a:ext uri="{FF2B5EF4-FFF2-40B4-BE49-F238E27FC236}">
                <a16:creationId xmlns:a16="http://schemas.microsoft.com/office/drawing/2014/main" id="{9F59C374-1AA2-49CB-A3E1-2FD3B713708F}"/>
              </a:ext>
            </a:extLst>
          </p:cNvPr>
          <p:cNvSpPr>
            <a:spLocks xmlns:a="http://schemas.openxmlformats.org/drawingml/2006/main" noGrp="1"/>
          </p:cNvSpPr>
          <p:nvPr/>
        </p:nvSpPr>
        <p:spPr>
          <a:xfrm xmlns:a="http://schemas.openxmlformats.org/drawingml/2006/main">
            <a:off x="571500" y="13525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332F"/>
                </a:solidFill>
                <a:latin typeface="Helvetica Neue"/>
                <a:ea typeface="Helvetica Neue"/>
                <a:cs typeface="Helvetica Neue"/>
              </a:defRPr>
            </a:pPr>
            <a:r>
              <a:rPr sz="2100" b="1">
                <a:solidFill>
                  <a:srgbClr val="24332F"/>
                </a:solidFill>
                <a:latin typeface="Helvetica Neue"/>
                <a:ea typeface="Helvetica Neue"/>
                <a:cs typeface="Helvetica Neue"/>
              </a:rPr>
              <a:t>Retention-time MAE (minutes)</a:t>
            </a:r>
          </a:p>
        </p:txBody>
      </p:sp>
      <p:graphicFrame>
        <p:nvGraphicFramePr>
          <p:cNvPr id="14" name="Chart"/>
          <p:cNvGraphicFramePr/>
          <p:nvPr/>
        </p:nvGraphicFramePr>
        <p:xfrm>
          <a:off xmlns:a="http://schemas.openxmlformats.org/drawingml/2006/main" x="571500" y="1895475"/>
          <a:ext xmlns:a="http://schemas.openxmlformats.org/drawingml/2006/main" cx="6381750" cy="3695700"/>
        </p:xfrm>
        <a:graphic xmlns:a="http://schemas.openxmlformats.org/drawingml/2006/main">
          <a:graphicData uri="http://schemas.openxmlformats.org/drawingml/2006/chart">
            <c:chart xmlns:r="http://schemas.openxmlformats.org/officeDocument/2006/relationships" xmlns:c="http://schemas.openxmlformats.org/drawingml/2006/chart" r:id="R12444c38bfde4752"/>
          </a:graphicData>
        </a:graphic>
      </p:graphicFrame>
      <p:sp>
        <p:nvSpPr>
          <p:cNvPr id="5" name="">
            <a:extLst xmlns:a="http://schemas.openxmlformats.org/drawingml/2006/main">
              <a:ext uri="{FF2B5EF4-FFF2-40B4-BE49-F238E27FC236}">
                <a16:creationId xmlns:a16="http://schemas.microsoft.com/office/drawing/2014/main" id="{5BF79E8C-2FF4-43A5-8828-113013D240BE}"/>
              </a:ext>
            </a:extLst>
          </p:cNvPr>
          <p:cNvSpPr>
            <a:spLocks xmlns:a="http://schemas.openxmlformats.org/drawingml/2006/main" noGrp="1"/>
          </p:cNvSpPr>
          <p:nvPr/>
        </p:nvSpPr>
        <p:spPr>
          <a:xfrm xmlns:a="http://schemas.openxmlformats.org/drawingml/2006/main">
            <a:off x="7524750" y="13906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857B"/>
                </a:solidFill>
                <a:latin typeface="Helvetica Neue"/>
                <a:ea typeface="Helvetica Neue"/>
                <a:cs typeface="Helvetica Neue"/>
              </a:defRPr>
            </a:pPr>
            <a:r>
              <a:rPr sz="2250" b="1">
                <a:solidFill>
                  <a:srgbClr val="00857B"/>
                </a:solidFill>
                <a:latin typeface="Helvetica Neue"/>
                <a:ea typeface="Helvetica Neue"/>
                <a:cs typeface="Helvetica Neue"/>
              </a:rPr>
              <a:t>XGBoost remains the default</a:t>
            </a:r>
          </a:p>
        </p:txBody>
      </p:sp>
      <p:sp>
        <p:nvSpPr>
          <p:cNvPr id="6" name="">
            <a:extLst xmlns:a="http://schemas.openxmlformats.org/drawingml/2006/main">
              <a:ext uri="{FF2B5EF4-FFF2-40B4-BE49-F238E27FC236}">
                <a16:creationId xmlns:a16="http://schemas.microsoft.com/office/drawing/2014/main" id="{91E64306-1C64-4DDA-A2A8-1CBA3CC52E9C}"/>
              </a:ext>
            </a:extLst>
          </p:cNvPr>
          <p:cNvSpPr>
            <a:spLocks xmlns:a="http://schemas.openxmlformats.org/drawingml/2006/main" noGrp="1"/>
          </p:cNvSpPr>
          <p:nvPr/>
        </p:nvSpPr>
        <p:spPr>
          <a:xfrm xmlns:a="http://schemas.openxmlformats.org/drawingml/2006/main">
            <a:off x="7524750" y="2228850"/>
            <a:ext cx="4095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It won development validation.</a:t>
            </a:r>
          </a:p>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Random Forest did better</a:t>
            </a:r>
          </a:p>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on the final holdout.</a:t>
            </a:r>
          </a:p>
        </p:txBody>
      </p:sp>
      <p:sp>
        <p:nvSpPr>
          <p:cNvPr id="7" name="">
            <a:extLst xmlns:a="http://schemas.openxmlformats.org/drawingml/2006/main">
              <a:ext uri="{FF2B5EF4-FFF2-40B4-BE49-F238E27FC236}">
                <a16:creationId xmlns:a16="http://schemas.microsoft.com/office/drawing/2014/main" id="{7339725D-3079-4AB3-AA70-FB2A18384458}"/>
              </a:ext>
            </a:extLst>
          </p:cNvPr>
          <p:cNvSpPr>
            <a:spLocks xmlns:a="http://schemas.openxmlformats.org/drawingml/2006/main" noGrp="1"/>
          </p:cNvSpPr>
          <p:nvPr/>
        </p:nvSpPr>
        <p:spPr>
          <a:xfrm xmlns:a="http://schemas.openxmlformats.org/drawingml/2006/main">
            <a:off x="7524750" y="3743325"/>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32F"/>
                </a:solidFill>
                <a:latin typeface="Helvetica Neue"/>
                <a:ea typeface="Helvetica Neue"/>
                <a:cs typeface="Helvetica Neue"/>
              </a:defRPr>
            </a:pPr>
            <a:r>
              <a:rPr sz="3300" b="1">
                <a:solidFill>
                  <a:srgbClr val="24332F"/>
                </a:solidFill>
                <a:latin typeface="Helvetica Neue"/>
                <a:ea typeface="Helvetica Neue"/>
                <a:cs typeface="Helvetica Neue"/>
              </a:rPr>
              <a:t>172 vs 169</a:t>
            </a:r>
          </a:p>
        </p:txBody>
      </p:sp>
      <p:sp>
        <p:nvSpPr>
          <p:cNvPr id="8" name="">
            <a:extLst xmlns:a="http://schemas.openxmlformats.org/drawingml/2006/main">
              <a:ext uri="{FF2B5EF4-FFF2-40B4-BE49-F238E27FC236}">
                <a16:creationId xmlns:a16="http://schemas.microsoft.com/office/drawing/2014/main" id="{BF82574C-9BCC-4E9D-98F9-01305B0B4D61}"/>
              </a:ext>
            </a:extLst>
          </p:cNvPr>
          <p:cNvSpPr>
            <a:spLocks xmlns:a="http://schemas.openxmlformats.org/drawingml/2006/main" noGrp="1"/>
          </p:cNvSpPr>
          <p:nvPr/>
        </p:nvSpPr>
        <p:spPr>
          <a:xfrm xmlns:a="http://schemas.openxmlformats.org/drawingml/2006/main">
            <a:off x="7524750" y="4410075"/>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target-window hits in 268 cases</a:t>
            </a:r>
          </a:p>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XGBoost versus a fixed rule</a:t>
            </a:r>
          </a:p>
        </p:txBody>
      </p:sp>
      <p:sp>
        <p:nvSpPr>
          <p:cNvPr id="9" name="">
            <a:extLst xmlns:a="http://schemas.openxmlformats.org/drawingml/2006/main">
              <a:ext uri="{FF2B5EF4-FFF2-40B4-BE49-F238E27FC236}">
                <a16:creationId xmlns:a16="http://schemas.microsoft.com/office/drawing/2014/main" id="{748BEF86-2988-4D44-BD56-B22B5E0658B1}"/>
              </a:ext>
            </a:extLst>
          </p:cNvPr>
          <p:cNvSpPr>
            <a:spLocks xmlns:a="http://schemas.openxmlformats.org/drawingml/2006/main" noGrp="1"/>
          </p:cNvSpPr>
          <p:nvPr/>
        </p:nvSpPr>
        <p:spPr>
          <a:xfrm xmlns:a="http://schemas.openxmlformats.org/drawingml/2006/main">
            <a:off x="7524750" y="53911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65"/>
                </a:solidFill>
                <a:latin typeface="Helvetica Neue"/>
                <a:ea typeface="Helvetica Neue"/>
                <a:cs typeface="Helvetica Neue"/>
              </a:defRPr>
            </a:pPr>
            <a:r>
              <a:rPr sz="1800" b="0">
                <a:solidFill>
                  <a:srgbClr val="586B65"/>
                </a:solidFill>
                <a:latin typeface="Helvetica Neue"/>
                <a:ea typeface="Helvetica Neue"/>
                <a:cs typeface="Helvetica Neue"/>
              </a:rPr>
              <a:t>Three additional hits. Statistical</a:t>
            </a:r>
          </a:p>
          <a:p xmlns:a="http://schemas.openxmlformats.org/drawingml/2006/main">
            <a:pPr>
              <a:defRPr sz="1800" b="0">
                <a:solidFill>
                  <a:srgbClr val="586B65"/>
                </a:solidFill>
                <a:latin typeface="Helvetica Neue"/>
                <a:ea typeface="Helvetica Neue"/>
                <a:cs typeface="Helvetica Neue"/>
              </a:defRPr>
            </a:pPr>
            <a:r>
              <a:rPr sz="1800" b="0">
                <a:solidFill>
                  <a:srgbClr val="586B65"/>
                </a:solidFill>
                <a:latin typeface="Helvetica Neue"/>
                <a:ea typeface="Helvetica Neue"/>
                <a:cs typeface="Helvetica Neue"/>
              </a:rPr>
              <a:t>significance is not established.</a:t>
            </a:r>
          </a:p>
        </p:txBody>
      </p:sp>
      <p:sp>
        <p:nvSpPr>
          <p:cNvPr id="10" name="">
            <a:extLst xmlns:a="http://schemas.openxmlformats.org/drawingml/2006/main">
              <a:ext uri="{FF2B5EF4-FFF2-40B4-BE49-F238E27FC236}">
                <a16:creationId xmlns:a16="http://schemas.microsoft.com/office/drawing/2014/main" id="{71BF6EB8-4B28-4708-BB48-FE7EE5FE8541}"/>
              </a:ext>
            </a:extLst>
          </p:cNvPr>
          <p:cNvSpPr>
            <a:spLocks xmlns:a="http://schemas.openxmlformats.org/drawingml/2006/main" noGrp="1"/>
          </p:cNvSpPr>
          <p:nvPr/>
        </p:nvSpPr>
        <p:spPr>
          <a:xfrm xmlns:a="http://schemas.openxmlformats.org/drawingml/2006/main">
            <a:off x="571500" y="6276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B65"/>
                </a:solidFill>
                <a:latin typeface="Helvetica Neue"/>
                <a:ea typeface="Helvetica Neue"/>
                <a:cs typeface="Helvetica Neue"/>
              </a:defRPr>
            </a:pPr>
            <a:r>
              <a:rPr sz="1350" b="0">
                <a:solidFill>
                  <a:srgbClr val="586B65"/>
                </a:solidFill>
                <a:latin typeface="Helvetica Neue"/>
                <a:ea typeface="Helvetica Neue"/>
                <a:cs typeface="Helvetica Neue"/>
              </a:rPr>
              <a:t>Ranking: 67 complete-panel compounds × 4 prespecified windows. XGBoost 64.2%, fixed rule 63.1%.</a:t>
            </a:r>
          </a:p>
        </p:txBody>
      </p:sp>
    </p:spTree>
    <p:extLst>
      <p:ext uri="{BB962C8B-B14F-4D97-AF65-F5344CB8AC3E}">
        <p14:creationId xmlns:p14="http://schemas.microsoft.com/office/powerpoint/2010/main" val="3714223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AFB5FE-4FF7-4F2A-83A6-EC29B15A27BF}"/>
              </a:ext>
            </a:extLst>
          </p:cNvPr>
          <p:cNvSpPr>
            <a:spLocks xmlns:a="http://schemas.openxmlformats.org/drawingml/2006/main" noGrp="1"/>
          </p:cNvSpPr>
          <p:nvPr/>
        </p:nvSpPr>
        <p:spPr>
          <a:xfrm xmlns:a="http://schemas.openxmlformats.org/drawingml/2006/main">
            <a:off x="571500" y="247650"/>
            <a:ext cx="514350" cy="57150"/>
          </a:xfrm>
          <a:prstGeom xmlns:a="http://schemas.openxmlformats.org/drawingml/2006/main" prst="rect">
            <a:avLst/>
          </a:prstGeom>
          <a:solidFill xmlns:a="http://schemas.openxmlformats.org/drawingml/2006/main">
            <a:srgbClr val="0085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1FC46D-4A5E-4646-8C58-7206AA7C1288}"/>
              </a:ext>
            </a:extLst>
          </p:cNvPr>
          <p:cNvSpPr>
            <a:spLocks xmlns:a="http://schemas.openxmlformats.org/drawingml/2006/main" noGrp="1"/>
          </p:cNvSpPr>
          <p:nvPr/>
        </p:nvSpPr>
        <p:spPr>
          <a:xfrm xmlns:a="http://schemas.openxmlformats.org/drawingml/2006/main">
            <a:off x="571500" y="45720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332F"/>
                </a:solidFill>
                <a:latin typeface="Helvetica Neue"/>
                <a:ea typeface="Helvetica Neue"/>
                <a:cs typeface="Helvetica Neue"/>
              </a:defRPr>
            </a:pPr>
            <a:r>
              <a:rPr sz="3150" b="1">
                <a:solidFill>
                  <a:srgbClr val="24332F"/>
                </a:solidFill>
                <a:latin typeface="Helvetica Neue"/>
                <a:ea typeface="Helvetica Neue"/>
                <a:cs typeface="Helvetica Neue"/>
              </a:rPr>
              <a:t>Limits and next experiments</a:t>
            </a:r>
          </a:p>
        </p:txBody>
      </p:sp>
      <p:sp>
        <p:nvSpPr>
          <p:cNvPr id="3" name="">
            <a:extLst xmlns:a="http://schemas.openxmlformats.org/drawingml/2006/main">
              <a:ext uri="{FF2B5EF4-FFF2-40B4-BE49-F238E27FC236}">
                <a16:creationId xmlns:a16="http://schemas.microsoft.com/office/drawing/2014/main" id="{871F3E3A-A33E-4381-9EFC-B7F3D2A503E4}"/>
              </a:ext>
            </a:extLst>
          </p:cNvPr>
          <p:cNvSpPr>
            <a:spLocks xmlns:a="http://schemas.openxmlformats.org/drawingml/2006/main" noGrp="1"/>
          </p:cNvSpPr>
          <p:nvPr/>
        </p:nvSpPr>
        <p:spPr>
          <a:xfrm xmlns:a="http://schemas.openxmlformats.org/drawingml/2006/main">
            <a:off x="571500" y="14668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857B"/>
                </a:solidFill>
                <a:latin typeface="Helvetica Neue"/>
                <a:ea typeface="Helvetica Neue"/>
                <a:cs typeface="Helvetica Neue"/>
              </a:defRPr>
            </a:pPr>
            <a:r>
              <a:rPr sz="2250" b="1">
                <a:solidFill>
                  <a:srgbClr val="00857B"/>
                </a:solidFill>
                <a:latin typeface="Helvetica Neue"/>
                <a:ea typeface="Helvetica Neue"/>
                <a:cs typeface="Helvetica Neue"/>
              </a:rPr>
              <a:t>Observed failure</a:t>
            </a:r>
          </a:p>
        </p:txBody>
      </p:sp>
      <p:sp>
        <p:nvSpPr>
          <p:cNvPr id="4" name="">
            <a:extLst xmlns:a="http://schemas.openxmlformats.org/drawingml/2006/main">
              <a:ext uri="{FF2B5EF4-FFF2-40B4-BE49-F238E27FC236}">
                <a16:creationId xmlns:a16="http://schemas.microsoft.com/office/drawing/2014/main" id="{F28ECCCD-7FC1-43E4-AD04-32C0D3DF927F}"/>
              </a:ext>
            </a:extLst>
          </p:cNvPr>
          <p:cNvSpPr>
            <a:spLocks xmlns:a="http://schemas.openxmlformats.org/drawingml/2006/main" noGrp="1"/>
          </p:cNvSpPr>
          <p:nvPr/>
        </p:nvSpPr>
        <p:spPr>
          <a:xfrm xmlns:a="http://schemas.openxmlformats.org/drawingml/2006/main">
            <a:off x="571500" y="2095500"/>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332F"/>
                </a:solidFill>
                <a:latin typeface="Helvetica Neue"/>
                <a:ea typeface="Helvetica Neue"/>
                <a:cs typeface="Helvetica Neue"/>
              </a:defRPr>
            </a:pPr>
            <a:r>
              <a:rPr sz="3150" b="1">
                <a:solidFill>
                  <a:srgbClr val="24332F"/>
                </a:solidFill>
                <a:latin typeface="Helvetica Neue"/>
                <a:ea typeface="Helvetica Neue"/>
                <a:cs typeface="Helvetica Neue"/>
              </a:rPr>
              <a:t>14 negative XGBoost predictions</a:t>
            </a:r>
          </a:p>
        </p:txBody>
      </p:sp>
      <p:sp>
        <p:nvSpPr>
          <p:cNvPr id="5" name="">
            <a:extLst xmlns:a="http://schemas.openxmlformats.org/drawingml/2006/main">
              <a:ext uri="{FF2B5EF4-FFF2-40B4-BE49-F238E27FC236}">
                <a16:creationId xmlns:a16="http://schemas.microsoft.com/office/drawing/2014/main" id="{AC49314B-FE74-46CF-B2D6-5EF829937829}"/>
              </a:ext>
            </a:extLst>
          </p:cNvPr>
          <p:cNvSpPr>
            <a:spLocks xmlns:a="http://schemas.openxmlformats.org/drawingml/2006/main" noGrp="1"/>
          </p:cNvSpPr>
          <p:nvPr/>
        </p:nvSpPr>
        <p:spPr>
          <a:xfrm xmlns:a="http://schemas.openxmlformats.org/drawingml/2006/main">
            <a:off x="571500" y="3524250"/>
            <a:ext cx="5238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4332F"/>
                </a:solidFill>
                <a:latin typeface="Helvetica Neue"/>
                <a:ea typeface="Helvetica Neue"/>
                <a:cs typeface="Helvetica Neue"/>
              </a:defRPr>
            </a:pPr>
            <a:r>
              <a:rPr sz="2175" b="0">
                <a:solidFill>
                  <a:srgbClr val="24332F"/>
                </a:solidFill>
                <a:latin typeface="Helvetica Neue"/>
                <a:ea typeface="Helvetica Neue"/>
                <a:cs typeface="Helvetica Neue"/>
              </a:rPr>
              <a:t>The app flags raw values and retains them in the reported evaluation.</a:t>
            </a:r>
          </a:p>
        </p:txBody>
      </p:sp>
      <p:sp>
        <p:nvSpPr>
          <p:cNvPr id="6" name="">
            <a:extLst xmlns:a="http://schemas.openxmlformats.org/drawingml/2006/main">
              <a:ext uri="{FF2B5EF4-FFF2-40B4-BE49-F238E27FC236}">
                <a16:creationId xmlns:a16="http://schemas.microsoft.com/office/drawing/2014/main" id="{CFFCACF9-34BC-47B3-8077-488B0D9C59CF}"/>
              </a:ext>
            </a:extLst>
          </p:cNvPr>
          <p:cNvSpPr>
            <a:spLocks xmlns:a="http://schemas.openxmlformats.org/drawingml/2006/main" noGrp="1"/>
          </p:cNvSpPr>
          <p:nvPr/>
        </p:nvSpPr>
        <p:spPr>
          <a:xfrm xmlns:a="http://schemas.openxmlformats.org/drawingml/2006/main">
            <a:off x="571500" y="49149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B65"/>
                </a:solidFill>
                <a:latin typeface="Helvetica Neue"/>
                <a:ea typeface="Helvetica Neue"/>
                <a:cs typeface="Helvetica Neue"/>
              </a:defRPr>
            </a:pPr>
            <a:r>
              <a:rPr sz="2025" b="0">
                <a:solidFill>
                  <a:srgbClr val="586B65"/>
                </a:solidFill>
                <a:latin typeface="Helvetica Neue"/>
                <a:ea typeface="Helvetica Neue"/>
                <a:cs typeface="Helvetica Neue"/>
              </a:rPr>
              <a:t>A future experiment can test positive outputs and calibrated uncertainty.</a:t>
            </a:r>
          </a:p>
        </p:txBody>
      </p:sp>
      <p:sp>
        <p:nvSpPr>
          <p:cNvPr id="7" name="">
            <a:extLst xmlns:a="http://schemas.openxmlformats.org/drawingml/2006/main">
              <a:ext uri="{FF2B5EF4-FFF2-40B4-BE49-F238E27FC236}">
                <a16:creationId xmlns:a16="http://schemas.microsoft.com/office/drawing/2014/main" id="{94E4740E-CF5C-4AB8-B5D8-54D623C462A6}"/>
              </a:ext>
            </a:extLst>
          </p:cNvPr>
          <p:cNvSpPr>
            <a:spLocks xmlns:a="http://schemas.openxmlformats.org/drawingml/2006/main" noGrp="1"/>
          </p:cNvSpPr>
          <p:nvPr/>
        </p:nvSpPr>
        <p:spPr>
          <a:xfrm xmlns:a="http://schemas.openxmlformats.org/drawingml/2006/main">
            <a:off x="6858000" y="14668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857B"/>
                </a:solidFill>
                <a:latin typeface="Helvetica Neue"/>
                <a:ea typeface="Helvetica Neue"/>
                <a:cs typeface="Helvetica Neue"/>
              </a:defRPr>
            </a:pPr>
            <a:r>
              <a:rPr sz="2250" b="1">
                <a:solidFill>
                  <a:srgbClr val="00857B"/>
                </a:solidFill>
                <a:latin typeface="Helvetica Neue"/>
                <a:ea typeface="Helvetica Neue"/>
                <a:cs typeface="Helvetica Neue"/>
              </a:rPr>
              <a:t>Evidence still needed</a:t>
            </a:r>
          </a:p>
        </p:txBody>
      </p:sp>
      <p:sp>
        <p:nvSpPr>
          <p:cNvPr id="8" name="">
            <a:extLst xmlns:a="http://schemas.openxmlformats.org/drawingml/2006/main">
              <a:ext uri="{FF2B5EF4-FFF2-40B4-BE49-F238E27FC236}">
                <a16:creationId xmlns:a16="http://schemas.microsoft.com/office/drawing/2014/main" id="{9F2A3ABE-324C-4D86-B3DE-ABF5A5899804}"/>
              </a:ext>
            </a:extLst>
          </p:cNvPr>
          <p:cNvSpPr>
            <a:spLocks xmlns:a="http://schemas.openxmlformats.org/drawingml/2006/main" noGrp="1"/>
          </p:cNvSpPr>
          <p:nvPr/>
        </p:nvSpPr>
        <p:spPr>
          <a:xfrm xmlns:a="http://schemas.openxmlformats.org/drawingml/2006/main">
            <a:off x="6858000" y="21621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332F"/>
                </a:solidFill>
                <a:latin typeface="Helvetica Neue"/>
                <a:ea typeface="Helvetica Neue"/>
                <a:cs typeface="Helvetica Neue"/>
              </a:defRPr>
            </a:pPr>
            <a:r>
              <a:rPr sz="2175" b="1">
                <a:solidFill>
                  <a:srgbClr val="24332F"/>
                </a:solidFill>
                <a:latin typeface="Helvetica Neue"/>
                <a:ea typeface="Helvetica Neue"/>
                <a:cs typeface="Helvetica Neue"/>
              </a:rPr>
              <a:t>New methods and laboratories</a:t>
            </a:r>
          </a:p>
        </p:txBody>
      </p:sp>
      <p:sp>
        <p:nvSpPr>
          <p:cNvPr id="9" name="">
            <a:extLst xmlns:a="http://schemas.openxmlformats.org/drawingml/2006/main">
              <a:ext uri="{FF2B5EF4-FFF2-40B4-BE49-F238E27FC236}">
                <a16:creationId xmlns:a16="http://schemas.microsoft.com/office/drawing/2014/main" id="{7DF11BB9-C853-4A36-9FA9-621BC9887E6B}"/>
              </a:ext>
            </a:extLst>
          </p:cNvPr>
          <p:cNvSpPr>
            <a:spLocks xmlns:a="http://schemas.openxmlformats.org/drawingml/2006/main" noGrp="1"/>
          </p:cNvSpPr>
          <p:nvPr/>
        </p:nvSpPr>
        <p:spPr>
          <a:xfrm xmlns:a="http://schemas.openxmlformats.org/drawingml/2006/main">
            <a:off x="6858000" y="2905125"/>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Use independent data to test transfer.</a:t>
            </a:r>
          </a:p>
        </p:txBody>
      </p:sp>
      <p:sp>
        <p:nvSpPr>
          <p:cNvPr id="10" name="">
            <a:extLst xmlns:a="http://schemas.openxmlformats.org/drawingml/2006/main">
              <a:ext uri="{FF2B5EF4-FFF2-40B4-BE49-F238E27FC236}">
                <a16:creationId xmlns:a16="http://schemas.microsoft.com/office/drawing/2014/main" id="{25A64F02-EE6C-44E8-AF42-4F9A5033E409}"/>
              </a:ext>
            </a:extLst>
          </p:cNvPr>
          <p:cNvSpPr>
            <a:spLocks xmlns:a="http://schemas.openxmlformats.org/drawingml/2006/main" noGrp="1"/>
          </p:cNvSpPr>
          <p:nvPr/>
        </p:nvSpPr>
        <p:spPr>
          <a:xfrm xmlns:a="http://schemas.openxmlformats.org/drawingml/2006/main">
            <a:off x="6858000" y="40290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332F"/>
                </a:solidFill>
                <a:latin typeface="Helvetica Neue"/>
                <a:ea typeface="Helvetica Neue"/>
                <a:cs typeface="Helvetica Neue"/>
              </a:defRPr>
            </a:pPr>
            <a:r>
              <a:rPr sz="2175" b="1">
                <a:solidFill>
                  <a:srgbClr val="24332F"/>
                </a:solidFill>
                <a:latin typeface="Helvetica Neue"/>
                <a:ea typeface="Helvetica Neue"/>
                <a:cs typeface="Helvetica Neue"/>
              </a:rPr>
              <a:t>Mixture separation quality</a:t>
            </a:r>
          </a:p>
        </p:txBody>
      </p:sp>
      <p:sp>
        <p:nvSpPr>
          <p:cNvPr id="11" name="">
            <a:extLst xmlns:a="http://schemas.openxmlformats.org/drawingml/2006/main">
              <a:ext uri="{FF2B5EF4-FFF2-40B4-BE49-F238E27FC236}">
                <a16:creationId xmlns:a16="http://schemas.microsoft.com/office/drawing/2014/main" id="{8599DC0E-E617-4700-8397-273D95C08271}"/>
              </a:ext>
            </a:extLst>
          </p:cNvPr>
          <p:cNvSpPr>
            <a:spLocks xmlns:a="http://schemas.openxmlformats.org/drawingml/2006/main" noGrp="1"/>
          </p:cNvSpPr>
          <p:nvPr/>
        </p:nvSpPr>
        <p:spPr>
          <a:xfrm xmlns:a="http://schemas.openxmlformats.org/drawingml/2006/main">
            <a:off x="6858000" y="4772025"/>
            <a:ext cx="4667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4332F"/>
                </a:solidFill>
                <a:latin typeface="Helvetica Neue"/>
                <a:ea typeface="Helvetica Neue"/>
                <a:cs typeface="Helvetica Neue"/>
              </a:defRPr>
            </a:pPr>
            <a:r>
              <a:rPr sz="1950" b="0">
                <a:solidFill>
                  <a:srgbClr val="24332F"/>
                </a:solidFill>
                <a:latin typeface="Helvetica Neue"/>
                <a:ea typeface="Helvetica Neue"/>
                <a:cs typeface="Helvetica Neue"/>
              </a:rPr>
              <a:t>Measure resolution, peak shape and sensitivity in the laboratory.</a:t>
            </a:r>
          </a:p>
        </p:txBody>
      </p:sp>
      <p:sp>
        <p:nvSpPr>
          <p:cNvPr id="12" name="">
            <a:extLst xmlns:a="http://schemas.openxmlformats.org/drawingml/2006/main">
              <a:ext uri="{FF2B5EF4-FFF2-40B4-BE49-F238E27FC236}">
                <a16:creationId xmlns:a16="http://schemas.microsoft.com/office/drawing/2014/main" id="{FC23E279-36BE-4F1F-89A8-069E1BDF4565}"/>
              </a:ext>
            </a:extLst>
          </p:cNvPr>
          <p:cNvSpPr>
            <a:spLocks xmlns:a="http://schemas.openxmlformats.org/drawingml/2006/main" noGrp="1"/>
          </p:cNvSpPr>
          <p:nvPr/>
        </p:nvSpPr>
        <p:spPr>
          <a:xfrm xmlns:a="http://schemas.openxmlformats.org/drawingml/2006/main">
            <a:off x="571500" y="6276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B65"/>
                </a:solidFill>
                <a:latin typeface="Helvetica Neue"/>
                <a:ea typeface="Helvetica Neue"/>
                <a:cs typeface="Helvetica Neue"/>
              </a:defRPr>
            </a:pPr>
            <a:r>
              <a:rPr sz="1350" b="0">
                <a:solidFill>
                  <a:srgbClr val="586B65"/>
                </a:solidFill>
                <a:latin typeface="Helvetica Neue"/>
                <a:ea typeface="Helvetica Neue"/>
                <a:cs typeface="Helvetica Neue"/>
              </a:rPr>
              <a:t>No claim of laboratory deployment or time savings. The evaluated holdout cannot guide further tuning.</a:t>
            </a:r>
          </a:p>
        </p:txBody>
      </p:sp>
    </p:spTree>
    <p:extLst>
      <p:ext uri="{BB962C8B-B14F-4D97-AF65-F5344CB8AC3E}">
        <p14:creationId xmlns:p14="http://schemas.microsoft.com/office/powerpoint/2010/main" val="2093116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2026-09-24T07:53:00.2010000Z</dcterms:created>
  <dcterms:modified xsi:type="dcterms:W3CDTF">2026-09-24T07:53:00.2010000Z</dcterms:modified>
</coreProperties>
</file>